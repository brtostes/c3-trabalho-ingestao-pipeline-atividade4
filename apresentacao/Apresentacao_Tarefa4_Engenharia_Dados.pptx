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13586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A6A6"/>
                </a:solidFill>
              </a:rPr>
              <a:t>Tarefa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Pipeline de Ingestão, Transformação e Delivery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16916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0D5DD"/>
                </a:solidFill>
              </a:rPr>
              <a:t>Python • PostgreSQL • dbt • Docker • Parquet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926080"/>
            <a:ext cx="1828800" cy="868680"/>
          </a:xfrm>
          <a:prstGeom prst="rect">
            <a:avLst/>
          </a:prstGeom>
          <a:solidFill>
            <a:srgbClr val="173B57"/>
          </a:solidFill>
          <a:ln>
            <a:solidFill>
              <a:srgbClr val="173B57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RAW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2.431 linhas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697480" y="3355848"/>
            <a:ext cx="1143000" cy="0"/>
          </a:xfrm>
          <a:prstGeom prst="line">
            <a:avLst/>
          </a:prstGeom>
          <a:noFill/>
          <a:ln w="22860">
            <a:solidFill>
              <a:srgbClr val="00A6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5"/>
          <p:cNvSpPr/>
          <p:nvPr/>
        </p:nvSpPr>
        <p:spPr>
          <a:xfrm>
            <a:off x="3977640" y="2926080"/>
            <a:ext cx="2377440" cy="868680"/>
          </a:xfrm>
          <a:prstGeom prst="rect">
            <a:avLst/>
          </a:prstGeom>
          <a:solidFill>
            <a:srgbClr val="0E7490"/>
          </a:solidFill>
          <a:ln>
            <a:solidFill>
              <a:srgbClr val="0E7490"/>
            </a:solidFill>
          </a:ln>
        </p:spPr>
        <p:txBody>
          <a:bodyPr wrap="square" lIns="635" tIns="635" rIns="635" bIns="635" rtlCol="0" anchor="ctr"/>
          <a:lstStyle/>
          <a:p>
            <a:r>
              <a:rPr sz="1800"/>
              <a:t>TRUSTED</a:t>
            </a:r>
          </a:p>
          <a:p>
            <a:r>
              <a:rPr sz="1800"/>
              <a:t>918 • 1.459 • 39</a:t>
            </a:r>
          </a:p>
        </p:txBody>
      </p:sp>
      <p:sp>
        <p:nvSpPr>
          <p:cNvPr id="8" name="Shape 6"/>
          <p:cNvSpPr/>
          <p:nvPr/>
        </p:nvSpPr>
        <p:spPr>
          <a:xfrm>
            <a:off x="6492240" y="3355848"/>
            <a:ext cx="1143000" cy="0"/>
          </a:xfrm>
          <a:prstGeom prst="line">
            <a:avLst/>
          </a:prstGeom>
          <a:noFill/>
          <a:ln w="22860">
            <a:solidFill>
              <a:srgbClr val="00A6A6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7"/>
          <p:cNvSpPr/>
          <p:nvPr/>
        </p:nvSpPr>
        <p:spPr>
          <a:xfrm>
            <a:off x="7772400" y="2926080"/>
            <a:ext cx="1920240" cy="86868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DELIVERY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918 linhas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966960" y="2926080"/>
            <a:ext cx="1554480" cy="86868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txBody>
          <a:bodyPr wrap="square" lIns="635" tIns="635" rIns="635" bIns="635" rtlCol="0" anchor="ctr"/>
          <a:lstStyle/>
          <a:p>
            <a:r>
              <a:rPr sz="1800"/>
              <a:t>29/29 testes dbt</a:t>
            </a:r>
          </a:p>
          <a:p>
            <a:r>
              <a:rPr sz="1800"/>
              <a:t>34/34 build</a:t>
            </a:r>
          </a:p>
        </p:txBody>
      </p:sp>
      <p:sp>
        <p:nvSpPr>
          <p:cNvPr id="11" name="Text 9"/>
          <p:cNvSpPr/>
          <p:nvPr/>
        </p:nvSpPr>
        <p:spPr>
          <a:xfrm>
            <a:off x="658368" y="6126480"/>
            <a:ext cx="9966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5DD"/>
                </a:solidFill>
              </a:rPr>
              <a:t>Repositório publicado: github.com/brtostes/C3-Trabalho-Ingestao-Pipeline-Atividade4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Objetivo e requisitos da atividade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Transformar arquivos de entrada em uma tabela analítica final, com camadas controladas e validação reprodutível.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22960" y="1508760"/>
            <a:ext cx="1874520" cy="73152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5EFF"/>
                </a:solidFill>
              </a:rPr>
              <a:t>Python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F5EFF"/>
                </a:solidFill>
              </a:rPr>
              <a:t>ingestão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017520" y="1508760"/>
            <a:ext cx="2057400" cy="73152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0A6A6"/>
                </a:solidFill>
              </a:rPr>
              <a:t>SQL/dbt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00A6A6"/>
                </a:solidFill>
              </a:rPr>
              <a:t>transformação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40680" y="1508760"/>
            <a:ext cx="2057400" cy="73152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</a:rPr>
              <a:t>PostgreSQL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</a:rPr>
              <a:t>Delivery final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863840" y="1508760"/>
            <a:ext cx="2194560" cy="73152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Parquet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59E0B"/>
                </a:solidFill>
              </a:rPr>
              <a:t>Trusted/Delivery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378440" y="1508760"/>
            <a:ext cx="1325880" cy="73152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GitHub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reprodutibilidade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10698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0B1F33"/>
                </a:solidFill>
              </a:rPr>
              <a:t>• Executar a atividade em ambiente Docker, com PostgreSQL isolado por serviço.
• Ingerir as bases de entrada na camada RAW preservando metadados de origem.
• Realizar tratamento, tipagem, normalização e integração por SQL/dbt.
• Gerar tabela final Delivery no banco relacional e arquivos Parquet.
• Registrar evidências, testes automatizados e publicação em repositório público.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5257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1F33"/>
                </a:solidFill>
              </a:rPr>
              <a:t>Princípio operacional: separar ingestão física da transformação semântica.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01</a:t>
            </a:r>
            <a:endParaRPr lang="en-US" sz="8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Arquitetura implementada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Pipeline conteinerizado com três serviços: postgres, ingest e dbt.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2103120"/>
            <a:ext cx="13716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10 arquivos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B1F33"/>
                </a:solidFill>
              </a:rPr>
              <a:t>CSV/TSV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9456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2852928" y="2103120"/>
            <a:ext cx="1280160" cy="64008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</a:rPr>
              <a:t>Python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5EFF"/>
                </a:solidFill>
              </a:rPr>
              <a:t>ingest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5196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4910328" y="2103120"/>
            <a:ext cx="1463040" cy="64008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PostgreSQL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RAW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92240" y="2432304"/>
            <a:ext cx="5486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7150608" y="2103120"/>
            <a:ext cx="1463040" cy="64008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dbt 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00A6A6"/>
                </a:solidFill>
              </a:rPr>
              <a:t>Trusted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2520" y="2432304"/>
            <a:ext cx="5029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2"/>
          <p:cNvSpPr/>
          <p:nvPr/>
        </p:nvSpPr>
        <p:spPr>
          <a:xfrm>
            <a:off x="9345168" y="2103120"/>
            <a:ext cx="1463040" cy="64008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dbt SQL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Delivery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927080" y="2432304"/>
            <a:ext cx="45720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4"/>
          <p:cNvSpPr/>
          <p:nvPr/>
        </p:nvSpPr>
        <p:spPr>
          <a:xfrm>
            <a:off x="11475720" y="2103120"/>
            <a:ext cx="576072" cy="64008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</a:rPr>
              <a:t>Parquet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703320"/>
            <a:ext cx="4892040" cy="17830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postgres: image postgres:17 + healthcheck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ingest:   Python 3.12 + pandas + psycopg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dbt:      dbt-postgres + DBT_PROFILES_DIR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depends_on: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postgres: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F8FA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condition: service_healthy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126480" y="3675888"/>
            <a:ext cx="5257800" cy="1691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pPr marL="0" indent="0">
              <a:buNone/>
            </a:pPr>
            <a:r>
              <a:rPr lang="en-US" sz="1240" dirty="0">
                <a:solidFill>
                  <a:srgbClr val="0B1F33"/>
                </a:solidFill>
              </a:rPr>
              <a:t>• A porta externa do PostgreSQL foi 5434, mas dbt e ingest acessaram o banco pela rede Docker em postgres:5432.
• O healthcheck evitou falhas de inicialização, pois ingest/dbt só executam após o banco estar saudável.
• As credenciais locais ficaram em `.env`, protegido por `.gitignore`.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822960" y="58064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67085"/>
                </a:solidFill>
              </a:rPr>
              <a:t>Base técnica: Docker Compose permite definir serviços, redes e volumes em um arquivo YAML; healthchecks declaram quando o serviço está pronto para uso.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21" name="Text 19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02</a:t>
            </a:r>
            <a:endParaRPr lang="en-US" sz="86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 final do projeto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Organização da entrega com código, dados, evidências e artefatos de saída.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31520" y="1325880"/>
            <a:ext cx="5120640" cy="46634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Trabalho-04/</a:t>
            </a:r>
          </a:p>
          <a:p>
            <a:r>
              <a:rPr sz="1000">
                <a:solidFill>
                  <a:srgbClr val="FFFFFF"/>
                </a:solidFill>
              </a:rPr>
              <a:t>├─ Dockerfile.python    ├─ Dockerfile.dbt</a:t>
            </a:r>
          </a:p>
          <a:p>
            <a:r>
              <a:rPr sz="1000">
                <a:solidFill>
                  <a:srgbClr val="FFFFFF"/>
                </a:solidFill>
              </a:rPr>
              <a:t>├─ docker-compose.yml   ├─ requirements.txt</a:t>
            </a:r>
          </a:p>
          <a:p>
            <a:r>
              <a:rPr sz="1000">
                <a:solidFill>
                  <a:srgbClr val="FFFFFF"/>
                </a:solidFill>
              </a:rPr>
              <a:t>├─ scripts/</a:t>
            </a:r>
          </a:p>
          <a:p>
            <a:r>
              <a:rPr sz="1000">
                <a:solidFill>
                  <a:srgbClr val="FFFFFF"/>
                </a:solidFill>
              </a:rPr>
              <a:t>│  ├─ ingest_raw.py</a:t>
            </a:r>
          </a:p>
          <a:p>
            <a:r>
              <a:rPr sz="1000">
                <a:solidFill>
                  <a:srgbClr val="FFFFFF"/>
                </a:solidFill>
              </a:rPr>
              <a:t>│  ├─ text_utils.py</a:t>
            </a:r>
          </a:p>
          <a:p>
            <a:r>
              <a:rPr sz="1000">
                <a:solidFill>
                  <a:srgbClr val="FFFFFF"/>
                </a:solidFill>
              </a:rPr>
              <a:t>│  └─ export_parquet.py</a:t>
            </a:r>
          </a:p>
          <a:p>
            <a:r>
              <a:rPr sz="1000">
                <a:solidFill>
                  <a:srgbClr val="FFFFFF"/>
                </a:solidFill>
              </a:rPr>
              <a:t>├─ dbt/</a:t>
            </a:r>
          </a:p>
          <a:p>
            <a:r>
              <a:rPr sz="1000">
                <a:solidFill>
                  <a:srgbClr val="FFFFFF"/>
                </a:solidFill>
              </a:rPr>
              <a:t>│  ├─ macros/normalizar_nome.sql</a:t>
            </a:r>
          </a:p>
          <a:p>
            <a:r>
              <a:rPr sz="1000">
                <a:solidFill>
                  <a:srgbClr val="FFFFFF"/>
                </a:solidFill>
              </a:rPr>
              <a:t>│  ├─ models/trusted/</a:t>
            </a:r>
          </a:p>
          <a:p>
            <a:r>
              <a:rPr sz="1000">
                <a:solidFill>
                  <a:srgbClr val="FFFFFF"/>
                </a:solidFill>
              </a:rPr>
              <a:t>│  ├─ models/intermediate/</a:t>
            </a:r>
          </a:p>
          <a:p>
            <a:r>
              <a:rPr sz="1000">
                <a:solidFill>
                  <a:srgbClr val="FFFFFF"/>
                </a:solidFill>
              </a:rPr>
              <a:t>│  ├─ models/delivery/</a:t>
            </a:r>
          </a:p>
          <a:p>
            <a:r>
              <a:rPr sz="1000">
                <a:solidFill>
                  <a:srgbClr val="FFFFFF"/>
                </a:solidFill>
              </a:rPr>
              <a:t>│  └─ tests/</a:t>
            </a:r>
          </a:p>
          <a:p>
            <a:r>
              <a:rPr sz="1000">
                <a:solidFill>
                  <a:srgbClr val="FFFFFF"/>
                </a:solidFill>
              </a:rPr>
              <a:t>├─ data/input/</a:t>
            </a:r>
          </a:p>
          <a:p>
            <a:r>
              <a:rPr sz="1000">
                <a:solidFill>
                  <a:srgbClr val="FFFFFF"/>
                </a:solidFill>
              </a:rPr>
              <a:t>├─ data/trusted/*.parquet</a:t>
            </a:r>
          </a:p>
          <a:p>
            <a:r>
              <a:rPr sz="1000">
                <a:solidFill>
                  <a:srgbClr val="FFFFFF"/>
                </a:solidFill>
              </a:rPr>
              <a:t>├─ data/delivery/tabela_final.parquet</a:t>
            </a:r>
          </a:p>
          <a:p>
            <a:r>
              <a:rPr sz="1000">
                <a:solidFill>
                  <a:srgbClr val="FFFFFF"/>
                </a:solidFill>
              </a:rPr>
              <a:t>└─ evidencias/</a:t>
            </a:r>
          </a:p>
        </p:txBody>
      </p:sp>
      <p:sp>
        <p:nvSpPr>
          <p:cNvPr id="7" name="Text 5"/>
          <p:cNvSpPr/>
          <p:nvPr/>
        </p:nvSpPr>
        <p:spPr>
          <a:xfrm>
            <a:off x="64008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600"/>
              <a:t>70+</a:t>
            </a:r>
          </a:p>
        </p:txBody>
      </p:sp>
      <p:sp>
        <p:nvSpPr>
          <p:cNvPr id="8" name="Text 6"/>
          <p:cNvSpPr/>
          <p:nvPr/>
        </p:nvSpPr>
        <p:spPr>
          <a:xfrm>
            <a:off x="64008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versionados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0" y="1417320"/>
            <a:ext cx="1371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600"/>
              <a:t>10</a:t>
            </a:r>
          </a:p>
        </p:txBody>
      </p:sp>
      <p:sp>
        <p:nvSpPr>
          <p:cNvPr id="10" name="Text 8"/>
          <p:cNvSpPr/>
          <p:nvPr/>
        </p:nvSpPr>
        <p:spPr>
          <a:xfrm>
            <a:off x="8229600" y="1920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00"/>
              <a:t>modelos dbt</a:t>
            </a:r>
          </a:p>
        </p:txBody>
      </p:sp>
      <p:sp>
        <p:nvSpPr>
          <p:cNvPr id="11" name="Text 9"/>
          <p:cNvSpPr/>
          <p:nvPr/>
        </p:nvSpPr>
        <p:spPr>
          <a:xfrm>
            <a:off x="9875520" y="141732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600"/>
              <a:t>29</a:t>
            </a:r>
          </a:p>
        </p:txBody>
      </p:sp>
      <p:sp>
        <p:nvSpPr>
          <p:cNvPr id="12" name="Text 10"/>
          <p:cNvSpPr/>
          <p:nvPr/>
        </p:nvSpPr>
        <p:spPr>
          <a:xfrm>
            <a:off x="9875520" y="1920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00"/>
              <a:t>testes de dados</a:t>
            </a:r>
          </a:p>
        </p:txBody>
      </p:sp>
      <p:sp>
        <p:nvSpPr>
          <p:cNvPr id="13" name="Text 11"/>
          <p:cNvSpPr/>
          <p:nvPr/>
        </p:nvSpPr>
        <p:spPr>
          <a:xfrm>
            <a:off x="6400800" y="297180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600">
                <a:solidFill>
                  <a:srgbClr val="000000"/>
                </a:solidFill>
              </a:rPr>
              <a:t>4</a:t>
            </a:r>
          </a:p>
        </p:txBody>
      </p:sp>
      <p:sp>
        <p:nvSpPr>
          <p:cNvPr id="14" name="Text 12"/>
          <p:cNvSpPr/>
          <p:nvPr/>
        </p:nvSpPr>
        <p:spPr>
          <a:xfrm>
            <a:off x="6400800" y="34747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Parquet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412480" y="297180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800"/>
              <a:t>main</a:t>
            </a:r>
          </a:p>
          <a:p>
            <a:r>
              <a:rPr sz="1800"/>
              <a:t>commits de revisão</a:t>
            </a:r>
          </a:p>
        </p:txBody>
      </p:sp>
      <p:sp>
        <p:nvSpPr>
          <p:cNvPr id="16" name="Text 14"/>
          <p:cNvSpPr/>
          <p:nvPr/>
        </p:nvSpPr>
        <p:spPr>
          <a:xfrm>
            <a:off x="8412480" y="34747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commit publicado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0" y="4754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Repositório público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0" y="51389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1F5EFF"/>
                </a:solidFill>
              </a:rPr>
              <a:t>github.com/brtostes/C3-Trabalho-Ingestao-Pipeline-Atividade4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20" name="Text 18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03</a:t>
            </a:r>
            <a:endParaRPr lang="en-US" sz="86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Camada RAW: ingestão física preservada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Python lê os arquivos, cria tabelas em PostgreSQL e acrescenta metadados de rastreabilidade.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10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77724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arquivos processados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7432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2.431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7432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RAW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70916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10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70916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tabelas RAW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629400" y="141732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629400" y="19202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metadados por linha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77240" y="2880360"/>
            <a:ext cx="5669280" cy="24688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from text_utils import normalize_dataframe_columns</a:t>
            </a:r>
          </a:p>
          <a:p/>
          <a:p>
            <a:r>
              <a:rPr sz="1000">
                <a:solidFill>
                  <a:srgbClr val="FFFFFF"/>
                </a:solidFill>
              </a:rPr>
              <a:t>def read_file(path):</a:t>
            </a:r>
          </a:p>
          <a:p>
            <a:r>
              <a:rPr sz="1000">
                <a:solidFill>
                  <a:srgbClr val="FFFFFF"/>
                </a:solidFill>
              </a:rPr>
              <a:t>    if path.suffix == ".tsv":</a:t>
            </a:r>
          </a:p>
          <a:p>
            <a:r>
              <a:rPr sz="1000">
                <a:solidFill>
                  <a:srgbClr val="FFFFFF"/>
                </a:solidFill>
              </a:rPr>
              <a:t>        return pd.read_csv(path, sep="\t", dtype=str)</a:t>
            </a:r>
          </a:p>
          <a:p>
            <a:r>
              <a:rPr sz="1000">
                <a:solidFill>
                  <a:srgbClr val="FFFFFF"/>
                </a:solidFill>
              </a:rPr>
              <a:t>    if filename.startswith("glassdoor_"):</a:t>
            </a:r>
          </a:p>
          <a:p>
            <a:r>
              <a:rPr sz="1000">
                <a:solidFill>
                  <a:srgbClr val="FFFFFF"/>
                </a:solidFill>
              </a:rPr>
              <a:t>        return pd.read_csv(path, sep="|", dtype=str)</a:t>
            </a:r>
          </a:p>
          <a:p>
            <a:r>
              <a:rPr sz="1000">
                <a:solidFill>
                  <a:srgbClr val="FFFFFF"/>
                </a:solidFill>
              </a:rPr>
              <a:t>    return pd.read_csv(path, sep=None, engine="python", dtype=str)</a:t>
            </a:r>
          </a:p>
          <a:p/>
          <a:p>
            <a:r>
              <a:rPr sz="1000">
                <a:solidFill>
                  <a:srgbClr val="FFFFFF"/>
                </a:solidFill>
              </a:rPr>
              <a:t>df = read_file(path)</a:t>
            </a:r>
          </a:p>
          <a:p>
            <a:r>
              <a:rPr sz="1000">
                <a:solidFill>
                  <a:srgbClr val="FFFFFF"/>
                </a:solidFill>
              </a:rPr>
              <a:t>df = normalize_dataframe_columns(df)</a:t>
            </a:r>
          </a:p>
          <a:p/>
          <a:p>
            <a:r>
              <a:rPr sz="1000">
                <a:solidFill>
                  <a:srgbClr val="FFFFFF"/>
                </a:solidFill>
              </a:rPr>
              <a:t>df["_source_file"] = path.name</a:t>
            </a:r>
          </a:p>
          <a:p>
            <a:r>
              <a:rPr sz="1000">
                <a:solidFill>
                  <a:srgbClr val="FFFFFF"/>
                </a:solidFill>
              </a:rPr>
              <a:t>df["_source_row_number"] = range(1, len(df)+1)</a:t>
            </a:r>
          </a:p>
          <a:p>
            <a:r>
              <a:rPr sz="1000">
                <a:solidFill>
                  <a:srgbClr val="FFFFFF"/>
                </a:solidFill>
              </a:rPr>
              <a:t>df["_ingested_at_utc"] = now_utc</a:t>
            </a:r>
          </a:p>
        </p:txBody>
      </p:sp>
      <p:sp>
        <p:nvSpPr>
          <p:cNvPr id="15" name="Text 13"/>
          <p:cNvSpPr/>
          <p:nvPr/>
        </p:nvSpPr>
        <p:spPr>
          <a:xfrm>
            <a:off x="6903720" y="3063240"/>
            <a:ext cx="4114800" cy="411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F33"/>
                </a:solidFill>
              </a:rPr>
              <a:t>RAW não faz regra de negócio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03720" y="3749040"/>
            <a:ext cx="4206240" cy="1417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• Todos os campos de origem foram carregados como texto.</a:t>
            </a:r>
          </a:p>
          <a:p>
            <a:r>
              <a:rPr sz="1000">
                <a:solidFill>
                  <a:srgbClr val="FFFFFF"/>
                </a:solidFill>
              </a:rPr>
              <a:t>• A interpretação física do arquivo foi corrigida apenas quando comprovada: TSV por tabulação; Glassdoor por pipe `|`.</a:t>
            </a:r>
          </a:p>
          <a:p>
            <a:r>
              <a:rPr sz="1000">
                <a:solidFill>
                  <a:srgbClr val="FFFFFF"/>
                </a:solidFill>
              </a:rPr>
              <a:t>• Cabeçalhos Unicode problemáticos são normalizados tecnicamente por função reutilizável, sem alterar dados de negócio.</a:t>
            </a:r>
          </a:p>
          <a:p>
            <a:r>
              <a:rPr sz="1000">
                <a:solidFill>
                  <a:srgbClr val="FFFFFF"/>
                </a:solidFill>
              </a:rPr>
              <a:t>• As transformações semânticas permanecem no dbt/SQL.</a:t>
            </a:r>
          </a:p>
        </p:txBody>
      </p:sp>
      <p:sp>
        <p:nvSpPr>
          <p:cNvPr id="17" name="Text 15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04</a:t>
            </a:r>
            <a:endParaRPr lang="en-US" sz="86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Validação da RAW: problemas detectados e corrigidos no ponto certo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carga bem-sucedida não foi tratada como sinônimo de qualidade; houve inspeção de esquema, cardinalidade e cabeçalhos.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1600200"/>
            <a:ext cx="2286000" cy="68580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Glassdoor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</a:rPr>
              <a:t>18 colunas incorretas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108960" y="1938528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977640" y="1600200"/>
            <a:ext cx="2286000" cy="68580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Diagnóstico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</a:rPr>
              <a:t>22 pipes = 23 campos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938528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7269480" y="1600200"/>
            <a:ext cx="1920240" cy="68580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Correção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</a:rPr>
              <a:t>sep="|"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326880" y="1938528"/>
            <a:ext cx="59436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0058400" y="1600200"/>
            <a:ext cx="1600200" cy="68580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00A6A6"/>
                </a:solidFill>
              </a:rPr>
              <a:t>RAW válida</a:t>
            </a:r>
            <a:endParaRPr lang="en-US" sz="1120" dirty="0"/>
          </a:p>
          <a:p>
            <a:pPr marL="0" indent="0" algn="ctr">
              <a:buNone/>
            </a:pPr>
            <a:r>
              <a:rPr lang="en-US" sz="1120" b="1" dirty="0">
                <a:solidFill>
                  <a:srgbClr val="00A6A6"/>
                </a:solidFill>
              </a:rPr>
              <a:t>23 + 3 colunas</a:t>
            </a:r>
            <a:endParaRPr lang="en-US" sz="1120" dirty="0"/>
          </a:p>
        </p:txBody>
      </p:sp>
      <p:sp>
        <p:nvSpPr>
          <p:cNvPr id="13" name="Text 11"/>
          <p:cNvSpPr/>
          <p:nvPr/>
        </p:nvSpPr>
        <p:spPr>
          <a:xfrm>
            <a:off x="777240" y="3063240"/>
            <a:ext cx="4937760" cy="23317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100">
                <a:solidFill>
                  <a:srgbClr val="FFFFFF"/>
                </a:solidFill>
              </a:rPr>
              <a:t>Problemas observados e tratados:</a:t>
            </a:r>
          </a:p>
          <a:p/>
          <a:p>
            <a:r>
              <a:rPr sz="1100">
                <a:solidFill>
                  <a:srgbClr val="FFFFFF"/>
                </a:solidFill>
              </a:rPr>
              <a:t>• Cabeçalhos Glassdoor fragmentados</a:t>
            </a:r>
          </a:p>
          <a:p>
            <a:r>
              <a:rPr sz="1100">
                <a:solidFill>
                  <a:srgbClr val="FFFFFF"/>
                </a:solidFill>
              </a:rPr>
              <a:t>• Caractere U+0096 em colunas de clientes</a:t>
            </a:r>
          </a:p>
          <a:p>
            <a:r>
              <a:rPr sz="1100">
                <a:solidFill>
                  <a:srgbClr val="FFFFFF"/>
                </a:solidFill>
              </a:rPr>
              <a:t>• CNPJs-base duplicados no enquadramento</a:t>
            </a:r>
          </a:p>
          <a:p>
            <a:r>
              <a:rPr sz="1100">
                <a:solidFill>
                  <a:srgbClr val="FFFFFF"/>
                </a:solidFill>
              </a:rPr>
              <a:t>• Coluna Unnamed: 14 vazia</a:t>
            </a:r>
          </a:p>
          <a:p>
            <a:r>
              <a:rPr sz="1100">
                <a:solidFill>
                  <a:srgbClr val="FFFFFF"/>
                </a:solidFill>
              </a:rPr>
              <a:t>• BOM UTF-8 em SQL gerado por PowerShell</a:t>
            </a:r>
          </a:p>
          <a:p>
            <a:r>
              <a:rPr sz="1100">
                <a:solidFill>
                  <a:srgbClr val="FFFFFF"/>
                </a:solidFill>
              </a:rPr>
              <a:t>• Aspas/acentuação em comandos psql</a:t>
            </a:r>
          </a:p>
        </p:txBody>
      </p:sp>
      <p:sp>
        <p:nvSpPr>
          <p:cNvPr id="14" name="Text 12"/>
          <p:cNvSpPr/>
          <p:nvPr/>
        </p:nvSpPr>
        <p:spPr>
          <a:xfrm>
            <a:off x="6263640" y="30632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1F33"/>
                </a:solidFill>
              </a:rPr>
              <a:t>Decisão metodológica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263640" y="352044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300"/>
              <a:t>• Corrigir parsing físico na ingestão quando o delimitador real foi comprovado.</a:t>
            </a:r>
          </a:p>
          <a:p>
            <a:r>
              <a:rPr sz="1300"/>
              <a:t>• Normalizar cabeçalhos Unicode em `text_utils.py`, antes da persistência na RAW.</a:t>
            </a:r>
          </a:p>
          <a:p>
            <a:r>
              <a:rPr sz="1300"/>
              <a:t>• Deduplicar CNPJs na Trusted com regra determinística e aliases preservados.</a:t>
            </a:r>
          </a:p>
          <a:p>
            <a:r>
              <a:rPr sz="1300"/>
              <a:t>• Excluir `Unnamed: 14` apenas após evidência de 100% vazio.</a:t>
            </a:r>
          </a:p>
          <a:p>
            <a:r>
              <a:rPr sz="1300"/>
              <a:t>• Manter CNPJ como texto para preservar zeros à esquerda.</a:t>
            </a:r>
          </a:p>
        </p:txBody>
      </p:sp>
      <p:sp>
        <p:nvSpPr>
          <p:cNvPr id="16" name="Text 14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7" name="Text 15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05</a:t>
            </a:r>
            <a:endParaRPr lang="en-US" sz="8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800" b="1">
                <a:solidFill>
                  <a:srgbClr val="0A1C30"/>
                </a:solidFill>
              </a:rPr>
              <a:t>Camada Trusted: tratamento via dbt</a:t>
            </a:r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800">
                <a:solidFill>
                  <a:srgbClr val="000000"/>
                </a:solidFill>
              </a:rPr>
              <a:t>Quatro modelos materializados e uma base ephemeral organizam a camada trusted.</a:t>
            </a:r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2560320" cy="59436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trusted.reclamacoes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918 linhas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703320" y="1417320"/>
            <a:ext cx="2560320" cy="59436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r>
              <a:rPr sz="1600"/>
              <a:t>trusted.enquadramento</a:t>
            </a:r>
          </a:p>
          <a:p>
            <a:r>
              <a:rPr sz="1600"/>
              <a:t>1.459 linhas</a:t>
            </a:r>
          </a:p>
        </p:txBody>
      </p:sp>
      <p:sp>
        <p:nvSpPr>
          <p:cNvPr id="8" name="Text 6"/>
          <p:cNvSpPr/>
          <p:nvPr/>
        </p:nvSpPr>
        <p:spPr>
          <a:xfrm>
            <a:off x="6537960" y="1417320"/>
            <a:ext cx="2560320" cy="59436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trusted.glassdoor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39 linhas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9372600" y="1417320"/>
            <a:ext cx="1920240" cy="59436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r>
              <a:rPr sz="1600"/>
              <a:t>trusted.aliases</a:t>
            </a:r>
          </a:p>
          <a:p>
            <a:r>
              <a:rPr sz="1600"/>
              <a:t>1.474 linhas</a:t>
            </a:r>
          </a:p>
        </p:txBody>
      </p:sp>
      <p:sp>
        <p:nvSpPr>
          <p:cNvPr id="10" name="Text 8"/>
          <p:cNvSpPr/>
          <p:nvPr/>
        </p:nvSpPr>
        <p:spPr>
          <a:xfrm>
            <a:off x="868680" y="2743200"/>
            <a:ext cx="6492240" cy="2286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-- trimestre</a:t>
            </a:r>
          </a:p>
          <a:p>
            <a:r>
              <a:rPr sz="1000">
                <a:solidFill>
                  <a:srgbClr val="FFFFFF"/>
                </a:solidFill>
              </a:rPr>
              <a:t>regexp_replace(trim("Trimestre"), '[^0-9]', '', 'g')::integer</a:t>
            </a:r>
          </a:p>
          <a:p/>
          <a:p>
            <a:r>
              <a:rPr sz="1000">
                <a:solidFill>
                  <a:srgbClr val="FFFFFF"/>
                </a:solidFill>
              </a:rPr>
              <a:t>-- índice decimal</a:t>
            </a:r>
          </a:p>
          <a:p>
            <a:r>
              <a:rPr sz="1000">
                <a:solidFill>
                  <a:srgbClr val="FFFFFF"/>
                </a:solidFill>
              </a:rPr>
              <a:t>replace(trim("Índice"), ',', '.')::numeric(18,4)</a:t>
            </a:r>
          </a:p>
          <a:p/>
          <a:p>
            <a:r>
              <a:rPr sz="1000">
                <a:solidFill>
                  <a:srgbClr val="FFFFFF"/>
                </a:solidFill>
              </a:rPr>
              <a:t>-- CNPJ-base canônico</a:t>
            </a:r>
          </a:p>
          <a:p>
            <a:r>
              <a:rPr sz="1000">
                <a:solidFill>
                  <a:srgbClr val="FFFFFF"/>
                </a:solidFill>
              </a:rPr>
              <a:t>lpad(trim("CNPJ"), 8, '0') as cnpj_if</a:t>
            </a:r>
          </a:p>
          <a:p/>
          <a:p>
            <a:r>
              <a:rPr sz="1000">
                <a:solidFill>
                  <a:srgbClr val="FFFFFF"/>
                </a:solidFill>
              </a:rPr>
              <a:t>-- unicidade</a:t>
            </a:r>
          </a:p>
          <a:p>
            <a:r>
              <a:rPr sz="1000">
                <a:solidFill>
                  <a:srgbClr val="FFFFFF"/>
                </a:solidFill>
              </a:rPr>
              <a:t>row_number() over (partition by cnpj_if order by ...) = 1</a:t>
            </a:r>
          </a:p>
        </p:txBody>
      </p:sp>
      <p:sp>
        <p:nvSpPr>
          <p:cNvPr id="11" name="Text 9"/>
          <p:cNvSpPr/>
          <p:nvPr/>
        </p:nvSpPr>
        <p:spPr>
          <a:xfrm>
            <a:off x="7726680" y="2761488"/>
            <a:ext cx="3566160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200"/>
              <a:t>• Reclamações: consolidação de sete trimestres por UNION ALL.</a:t>
            </a:r>
          </a:p>
          <a:p>
            <a:r>
              <a:rPr sz="1200"/>
              <a:t>• Enquadramento: CNPJ-base normalizado, deduplicado e testado como único.</a:t>
            </a:r>
          </a:p>
          <a:p>
            <a:r>
              <a:rPr sz="1200"/>
              <a:t>• Aliases: nomes alternativos preservados para matching com Glassdoor.</a:t>
            </a:r>
          </a:p>
          <a:p>
            <a:r>
              <a:rPr sz="1200"/>
              <a:t>• Glassdoor: consolidação de match e match_less com indicadores de origem.</a:t>
            </a:r>
          </a:p>
          <a:p>
            <a:r>
              <a:rPr sz="1200"/>
              <a:t>• Metadados técnicos preservados para rastreabilidade.</a:t>
            </a:r>
          </a:p>
        </p:txBody>
      </p:sp>
      <p:sp>
        <p:nvSpPr>
          <p:cNvPr id="12" name="Text 10"/>
          <p:cNvSpPr/>
          <p:nvPr/>
        </p:nvSpPr>
        <p:spPr>
          <a:xfrm>
            <a:off x="868680" y="56509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085"/>
                </a:solidFill>
              </a:rPr>
              <a:t>O dbt materializa modelos SQL e permite testar as saídas como parte do mesmo grafo de dependências.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06</a:t>
            </a:r>
            <a:endParaRPr lang="en-US" sz="86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Camada Delivery: integração via modelos dbt intermediários</a:t>
            </a:r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 tabela final consome modelos `intermediate` e preserva a granularidade original.</a:t>
            </a:r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645920"/>
            <a:ext cx="2011680" cy="64008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F5EFF"/>
                </a:solidFill>
              </a:rPr>
              <a:t>trusted.reclamacoes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1F5EFF"/>
                </a:solidFill>
              </a:rPr>
              <a:t>918 linhas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2926080" y="19659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794760" y="1280160"/>
            <a:ext cx="2194560" cy="59436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r>
              <a:rPr sz="1400"/>
              <a:t>enquadramento</a:t>
            </a:r>
          </a:p>
          <a:p>
            <a:r>
              <a:rPr sz="1400"/>
              <a:t>canônico</a:t>
            </a:r>
          </a:p>
        </p:txBody>
      </p:sp>
      <p:sp>
        <p:nvSpPr>
          <p:cNvPr id="9" name="Text 7"/>
          <p:cNvSpPr/>
          <p:nvPr/>
        </p:nvSpPr>
        <p:spPr>
          <a:xfrm>
            <a:off x="3794760" y="2057400"/>
            <a:ext cx="2194560" cy="59436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r>
              <a:rPr sz="1400"/>
              <a:t>intermediate</a:t>
            </a:r>
          </a:p>
          <a:p>
            <a:r>
              <a:rPr sz="1400"/>
              <a:t>normalização</a:t>
            </a:r>
          </a:p>
        </p:txBody>
      </p:sp>
      <p:sp>
        <p:nvSpPr>
          <p:cNvPr id="10" name="Shape 8"/>
          <p:cNvSpPr/>
          <p:nvPr/>
        </p:nvSpPr>
        <p:spPr>
          <a:xfrm>
            <a:off x="6126480" y="1965960"/>
            <a:ext cx="7772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9"/>
          <p:cNvSpPr/>
          <p:nvPr/>
        </p:nvSpPr>
        <p:spPr>
          <a:xfrm>
            <a:off x="7040880" y="1645920"/>
            <a:ext cx="1828800" cy="640080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r>
              <a:rPr sz="1400"/>
              <a:t>Glassdoor</a:t>
            </a:r>
          </a:p>
          <a:p>
            <a:r>
              <a:rPr sz="1400"/>
              <a:t>por nome/CNPJ</a:t>
            </a:r>
          </a:p>
        </p:txBody>
      </p:sp>
      <p:sp>
        <p:nvSpPr>
          <p:cNvPr id="12" name="Shape 10"/>
          <p:cNvSpPr/>
          <p:nvPr/>
        </p:nvSpPr>
        <p:spPr>
          <a:xfrm>
            <a:off x="9006840" y="1965960"/>
            <a:ext cx="64008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1"/>
          <p:cNvSpPr/>
          <p:nvPr/>
        </p:nvSpPr>
        <p:spPr>
          <a:xfrm>
            <a:off x="9784080" y="1645920"/>
            <a:ext cx="1828800" cy="64008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delivery.tabela_final</a:t>
            </a:r>
            <a:endParaRPr lang="en-US" sz="1250" dirty="0"/>
          </a:p>
          <a:p>
            <a:pPr marL="0" indent="0" algn="ctr">
              <a:buNone/>
            </a:pPr>
            <a:r>
              <a:rPr lang="en-US" sz="1250" b="1" dirty="0">
                <a:solidFill>
                  <a:srgbClr val="F59E0B"/>
                </a:solidFill>
              </a:rPr>
              <a:t>918 linhas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577840" y="2743200"/>
            <a:ext cx="4937760" cy="14630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76200" tIns="50800" rIns="1524" bIns="1524" rtlCol="0" anchor="ctr">
            <a:normAutofit/>
          </a:bodyPr>
          <a:lstStyle/>
          <a:p>
            <a:r>
              <a:rPr sz="800">
                <a:solidFill>
                  <a:srgbClr val="FFFFFF"/>
                </a:solidFill>
              </a:rPr>
              <a:t>from {{ ref('int_reclamacoes_normalizadas') }} r</a:t>
            </a:r>
          </a:p>
          <a:p>
            <a:r>
              <a:rPr sz="800">
                <a:solidFill>
                  <a:srgbClr val="FFFFFF"/>
                </a:solidFill>
              </a:rPr>
              <a:t>left join {{ ref('enquadramento') }} e</a:t>
            </a:r>
          </a:p>
          <a:p>
            <a:r>
              <a:rPr sz="800">
                <a:solidFill>
                  <a:srgbClr val="FFFFFF"/>
                </a:solidFill>
              </a:rPr>
              <a:t>  on r.cnpj_if = e.cnpj_if</a:t>
            </a:r>
          </a:p>
          <a:p>
            <a:r>
              <a:rPr sz="800">
                <a:solidFill>
                  <a:srgbClr val="FFFFFF"/>
                </a:solidFill>
              </a:rPr>
              <a:t>left join {{ ref('int_glassdoor_por_cnpj') }} gc</a:t>
            </a:r>
          </a:p>
          <a:p>
            <a:r>
              <a:rPr sz="800">
                <a:solidFill>
                  <a:srgbClr val="FFFFFF"/>
                </a:solidFill>
              </a:rPr>
              <a:t>  on r.cnpj_if = gc.cnpj_if</a:t>
            </a:r>
          </a:p>
          <a:p>
            <a:r>
              <a:rPr sz="800">
                <a:solidFill>
                  <a:srgbClr val="FFFFFF"/>
                </a:solidFill>
              </a:rPr>
              <a:t>left join {{ ref('int_glassdoor_por_nome') }} gn</a:t>
            </a:r>
          </a:p>
          <a:p>
            <a:r>
              <a:rPr sz="800">
                <a:solidFill>
                  <a:srgbClr val="FFFFFF"/>
                </a:solidFill>
              </a:rPr>
              <a:t>  on r.cnpj_if is null</a:t>
            </a:r>
          </a:p>
          <a:p>
            <a:r>
              <a:rPr sz="800">
                <a:solidFill>
                  <a:srgbClr val="FFFFFF"/>
                </a:solidFill>
              </a:rPr>
              <a:t> and r.instituicao_nome_normalizado = gn.nome_normalizado</a:t>
            </a:r>
          </a:p>
        </p:txBody>
      </p:sp>
      <p:sp>
        <p:nvSpPr>
          <p:cNvPr id="17" name="Text 15"/>
          <p:cNvSpPr/>
          <p:nvPr/>
        </p:nvSpPr>
        <p:spPr>
          <a:xfrm>
            <a:off x="868680" y="557784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2E7D32"/>
                </a:solidFill>
              </a:rPr>
              <a:t>Controle crítico: `delivery_cardinalidade` e `delivery_granularidade` impedem perda ou multiplicação de linhas.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07</a:t>
            </a:r>
            <a:endParaRPr lang="en-US" sz="860" dirty="0"/>
          </a:p>
        </p:txBody>
      </p:sp>
      <p:sp>
        <p:nvSpPr>
          <p:cNvPr id="20" name="TextBox 19"/>
          <p:cNvSpPr txBox="1"/>
          <p:nvPr/>
        </p:nvSpPr>
        <p:spPr>
          <a:xfrm>
            <a:off x="777240" y="2514600"/>
            <a:ext cx="4251960" cy="1783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000000"/>
                </a:solidFill>
              </a:rPr>
              <a:t>Modelos intermediate (ephemeral)</a:t>
            </a:r>
          </a:p>
          <a:p>
            <a:pPr/>
            <a:r>
              <a:rPr sz="1000">
                <a:solidFill>
                  <a:srgbClr val="000000"/>
                </a:solidFill>
              </a:rPr>
              <a:t>int_reclamacoes_normalizadas: normaliza instituição financeira</a:t>
            </a:r>
          </a:p>
          <a:p>
            <a:pPr/>
            <a:r>
              <a:rPr sz="1000">
                <a:solidFill>
                  <a:srgbClr val="000000"/>
                </a:solidFill>
              </a:rPr>
              <a:t>int_glassdoor_normalizado: aplica macro textual</a:t>
            </a:r>
          </a:p>
          <a:p>
            <a:pPr/>
            <a:r>
              <a:rPr sz="1000">
                <a:solidFill>
                  <a:srgbClr val="000000"/>
                </a:solidFill>
              </a:rPr>
              <a:t>int_glassdoor_por_nome: seleciona 1 registro por nome</a:t>
            </a:r>
          </a:p>
          <a:p>
            <a:pPr/>
            <a:r>
              <a:rPr sz="1000">
                <a:solidFill>
                  <a:srgbClr val="000000"/>
                </a:solidFill>
              </a:rPr>
              <a:t>int_glassdoor_por_cnpj: consolida aliases e CNPJ direto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2468880"/>
            <a:ext cx="4937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000000"/>
                </a:solidFill>
              </a:rPr>
              <a:t>Delivery final como integração por ref()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Resultados quantitativos da Delivery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Tabela final preservou a cardinalidade e explicitou a cobertura dos enriquecimentos.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68580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F5EFF"/>
                </a:solidFill>
              </a:rPr>
              <a:t>918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68580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na tabela final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68880" y="1325880"/>
            <a:ext cx="1463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</a:rPr>
              <a:t>0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2468880" y="18288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diferença vs Trusted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160520" y="132588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0A6A6"/>
                </a:solidFill>
              </a:rPr>
              <a:t>321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4160520" y="18288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com enquadramento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309360" y="132588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136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309360" y="18288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linhas com Glassdoor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29600" y="1325880"/>
            <a:ext cx="2560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6D28D9"/>
                </a:solidFill>
              </a:rPr>
              <a:t>24,95%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8229600" y="182880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cobertura Glassdoor nos sem CNPJ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68680" y="31089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Total Delivery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3200400" y="3127248"/>
            <a:ext cx="2743200" cy="164592"/>
          </a:xfrm>
          <a:prstGeom prst="rect">
            <a:avLst/>
          </a:prstGeom>
          <a:solidFill>
            <a:srgbClr val="1F5EFF"/>
          </a:solidFill>
          <a:ln w="12700">
            <a:solidFill>
              <a:srgbClr val="1F5EF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6"/>
          <p:cNvSpPr/>
          <p:nvPr/>
        </p:nvSpPr>
        <p:spPr>
          <a:xfrm>
            <a:off x="6035040" y="30906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918</a:t>
            </a:r>
            <a:endParaRPr lang="en-US" sz="920" dirty="0"/>
          </a:p>
        </p:txBody>
      </p:sp>
      <p:sp>
        <p:nvSpPr>
          <p:cNvPr id="19" name="Text 17"/>
          <p:cNvSpPr/>
          <p:nvPr/>
        </p:nvSpPr>
        <p:spPr>
          <a:xfrm>
            <a:off x="868680" y="35661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Com enquadramento</a:t>
            </a:r>
            <a:endParaRPr lang="en-US" sz="920" dirty="0"/>
          </a:p>
        </p:txBody>
      </p:sp>
      <p:sp>
        <p:nvSpPr>
          <p:cNvPr id="20" name="Shape 18"/>
          <p:cNvSpPr/>
          <p:nvPr/>
        </p:nvSpPr>
        <p:spPr>
          <a:xfrm>
            <a:off x="3200400" y="3584448"/>
            <a:ext cx="959224" cy="164592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9"/>
          <p:cNvSpPr/>
          <p:nvPr/>
        </p:nvSpPr>
        <p:spPr>
          <a:xfrm>
            <a:off x="6035040" y="35478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321</a:t>
            </a:r>
            <a:endParaRPr lang="en-US" sz="920" dirty="0"/>
          </a:p>
        </p:txBody>
      </p:sp>
      <p:sp>
        <p:nvSpPr>
          <p:cNvPr id="22" name="Text 20"/>
          <p:cNvSpPr/>
          <p:nvPr/>
        </p:nvSpPr>
        <p:spPr>
          <a:xfrm>
            <a:off x="868680" y="40233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Com Glassdoor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200400" y="4041648"/>
            <a:ext cx="406400" cy="1645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4" name="Text 22"/>
          <p:cNvSpPr/>
          <p:nvPr/>
        </p:nvSpPr>
        <p:spPr>
          <a:xfrm>
            <a:off x="6035040" y="40050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136</a:t>
            </a:r>
            <a:endParaRPr lang="en-US" sz="920" dirty="0"/>
          </a:p>
        </p:txBody>
      </p:sp>
      <p:sp>
        <p:nvSpPr>
          <p:cNvPr id="25" name="Text 23"/>
          <p:cNvSpPr/>
          <p:nvPr/>
        </p:nvSpPr>
        <p:spPr>
          <a:xfrm>
            <a:off x="868680" y="448056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Sem Glassdoor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3200400" y="4498848"/>
            <a:ext cx="2336800" cy="164592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7" name="Text 25"/>
          <p:cNvSpPr/>
          <p:nvPr/>
        </p:nvSpPr>
        <p:spPr>
          <a:xfrm>
            <a:off x="6035040" y="44622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782</a:t>
            </a:r>
            <a:endParaRPr lang="en-US" sz="920" dirty="0"/>
          </a:p>
        </p:txBody>
      </p:sp>
      <p:sp>
        <p:nvSpPr>
          <p:cNvPr id="28" name="Text 26"/>
          <p:cNvSpPr/>
          <p:nvPr/>
        </p:nvSpPr>
        <p:spPr>
          <a:xfrm>
            <a:off x="7360920" y="29718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1F33"/>
                </a:solidFill>
              </a:rPr>
              <a:t>Método de vínculo Glassdoor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360920" y="35204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sem correspondência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9692640" y="3538728"/>
            <a:ext cx="1246293" cy="164592"/>
          </a:xfrm>
          <a:prstGeom prst="rect">
            <a:avLst/>
          </a:prstGeom>
          <a:solidFill>
            <a:srgbClr val="667085"/>
          </a:solidFill>
          <a:ln w="12700">
            <a:solidFill>
              <a:srgbClr val="66708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1" name="Text 29"/>
          <p:cNvSpPr/>
          <p:nvPr/>
        </p:nvSpPr>
        <p:spPr>
          <a:xfrm>
            <a:off x="11247120" y="35021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782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7360920" y="39776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nome_conglomerado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9692640" y="3995928"/>
            <a:ext cx="191247" cy="164592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4" name="Text 32"/>
          <p:cNvSpPr/>
          <p:nvPr/>
        </p:nvSpPr>
        <p:spPr>
          <a:xfrm>
            <a:off x="11247120" y="39593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120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7360920" y="44348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b="1" dirty="0">
                <a:solidFill>
                  <a:srgbClr val="0B1F33"/>
                </a:solidFill>
              </a:rPr>
              <a:t>alias_enquadramento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9692640" y="4453128"/>
            <a:ext cx="45720" cy="164592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7" name="Text 35"/>
          <p:cNvSpPr/>
          <p:nvPr/>
        </p:nvSpPr>
        <p:spPr>
          <a:xfrm>
            <a:off x="11247120" y="441655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20" dirty="0">
                <a:solidFill>
                  <a:srgbClr val="667085"/>
                </a:solidFill>
              </a:rPr>
              <a:t>16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868680" y="55778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667085"/>
                </a:solidFill>
              </a:rPr>
              <a:t>Leitura: o processo priorizou integridade e rastreabilidade; a cobertura reflete a qualidade e a disponibilidade das fontes de enriquecimento.</a:t>
            </a:r>
            <a:endParaRPr lang="en-US" sz="113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40" name="Text 38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08</a:t>
            </a:r>
            <a:endParaRPr lang="en-US" sz="86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Testes e reprodutibilidade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qualidade foi automatizada com testes declarativos e singulares no dbt.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000000"/>
                </a:solidFill>
              </a:rPr>
              <a:t>29/29</a:t>
            </a:r>
          </a:p>
        </p:txBody>
      </p:sp>
      <p:sp>
        <p:nvSpPr>
          <p:cNvPr id="7" name="Text 5"/>
          <p:cNvSpPr/>
          <p:nvPr/>
        </p:nvSpPr>
        <p:spPr>
          <a:xfrm>
            <a:off x="86868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testes dbt PASS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83464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000000"/>
                </a:solidFill>
              </a:rPr>
              <a:t>34/34</a:t>
            </a:r>
          </a:p>
        </p:txBody>
      </p:sp>
      <p:sp>
        <p:nvSpPr>
          <p:cNvPr id="9" name="Text 7"/>
          <p:cNvSpPr/>
          <p:nvPr/>
        </p:nvSpPr>
        <p:spPr>
          <a:xfrm>
            <a:off x="283464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dbt build PASS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00600" y="1463040"/>
            <a:ext cx="1828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000000"/>
                </a:solidFill>
              </a:rPr>
              <a:t>10</a:t>
            </a:r>
          </a:p>
        </p:txBody>
      </p:sp>
      <p:sp>
        <p:nvSpPr>
          <p:cNvPr id="11" name="Text 9"/>
          <p:cNvSpPr/>
          <p:nvPr/>
        </p:nvSpPr>
        <p:spPr>
          <a:xfrm>
            <a:off x="4800600" y="19659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sz="1000">
                <a:solidFill>
                  <a:srgbClr val="000000"/>
                </a:solidFill>
              </a:rPr>
              <a:t>modelos dbt</a:t>
            </a:r>
          </a:p>
        </p:txBody>
      </p:sp>
      <p:sp>
        <p:nvSpPr>
          <p:cNvPr id="12" name="Text 10"/>
          <p:cNvSpPr/>
          <p:nvPr/>
        </p:nvSpPr>
        <p:spPr>
          <a:xfrm>
            <a:off x="6812280" y="1463040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59E0B"/>
                </a:solidFill>
              </a:rPr>
              <a:t>0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812280" y="19659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950" dirty="0">
                <a:solidFill>
                  <a:srgbClr val="667085"/>
                </a:solidFill>
              </a:rPr>
              <a:t>warnings e erros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2971800"/>
            <a:ext cx="5120640" cy="14173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docker compose run --rm dbt dbt test</a:t>
            </a:r>
          </a:p>
          <a:p>
            <a:r>
              <a:rPr sz="1000">
                <a:solidFill>
                  <a:srgbClr val="FFFFFF"/>
                </a:solidFill>
              </a:rPr>
              <a:t>Done. PASS=29 WARN=0 ERROR=0 TOTAL=29</a:t>
            </a:r>
          </a:p>
          <a:p/>
          <a:p>
            <a:r>
              <a:rPr sz="1000">
                <a:solidFill>
                  <a:srgbClr val="FFFFFF"/>
                </a:solidFill>
              </a:rPr>
              <a:t>docker compose run --rm dbt dbt build</a:t>
            </a:r>
          </a:p>
          <a:p>
            <a:r>
              <a:rPr sz="1000">
                <a:solidFill>
                  <a:srgbClr val="FFFFFF"/>
                </a:solidFill>
              </a:rPr>
              <a:t>Found 10 models, 29 data tests, 10 sources, 479 macros</a:t>
            </a:r>
          </a:p>
          <a:p>
            <a:r>
              <a:rPr sz="1000">
                <a:solidFill>
                  <a:srgbClr val="FFFFFF"/>
                </a:solidFill>
              </a:rPr>
              <a:t>Done. PASS=34 WARN=0 ERROR=0 TOTAL=34</a:t>
            </a:r>
          </a:p>
        </p:txBody>
      </p:sp>
      <p:sp>
        <p:nvSpPr>
          <p:cNvPr id="15" name="Text 13"/>
          <p:cNvSpPr/>
          <p:nvPr/>
        </p:nvSpPr>
        <p:spPr>
          <a:xfrm>
            <a:off x="6446520" y="2788920"/>
            <a:ext cx="484632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200"/>
              <a:t>• not_null: campos essenciais de modelos Trusted, Intermediate e Delivery.</a:t>
            </a:r>
          </a:p>
          <a:p>
            <a:r>
              <a:rPr sz="1200"/>
              <a:t>• accepted_values: trimestre em 1–4; segmentos S1–S5; tipo_match válido.</a:t>
            </a:r>
          </a:p>
          <a:p>
            <a:r>
              <a:rPr sz="1200"/>
              <a:t>• unique: CNPJ canônico único em `trusted.enquadramento`.</a:t>
            </a:r>
          </a:p>
          <a:p>
            <a:r>
              <a:rPr sz="1200"/>
              <a:t>• singular tests: cardinalidade, granularidade, coerência do Glassdoor e faixa de match_percent.</a:t>
            </a:r>
          </a:p>
          <a:p>
            <a:r>
              <a:rPr sz="1200"/>
              <a:t>• Build completo reconstrói modelos e executa testes no mesmo grafo dbt.</a:t>
            </a:r>
          </a:p>
        </p:txBody>
      </p:sp>
      <p:sp>
        <p:nvSpPr>
          <p:cNvPr id="16" name="Text 14"/>
          <p:cNvSpPr/>
          <p:nvPr/>
        </p:nvSpPr>
        <p:spPr>
          <a:xfrm>
            <a:off x="868680" y="571500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dbt data tests são consultas SQL que retornam registros inválidos; se retornam zero linhas, o teste é aprovado.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8" name="Text 16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09</a:t>
            </a:r>
            <a:endParaRPr lang="en-US" sz="86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Materialização em Parquet e evidência de reprodutibilidade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rotina exporta Trusted e Delivery em formato colunar; após a revisão de CNPJ, o Parquet de enquadramento deve ser regenerado.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50876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r>
              <a:t>reclamacoes.parquet</a:t>
            </a:r>
          </a:p>
          <a:p>
            <a:r>
              <a:t>918 linhas • validado</a:t>
            </a:r>
          </a:p>
        </p:txBody>
      </p:sp>
      <p:sp>
        <p:nvSpPr>
          <p:cNvPr id="7" name="Text 5"/>
          <p:cNvSpPr/>
          <p:nvPr/>
        </p:nvSpPr>
        <p:spPr>
          <a:xfrm>
            <a:off x="6355080" y="150876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r>
              <a:t>enquadramento.parquet</a:t>
            </a:r>
          </a:p>
          <a:p>
            <a:r>
              <a:t>reexportar após revisão</a:t>
            </a:r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r>
              <a:t>glassdoor.parquet</a:t>
            </a:r>
          </a:p>
          <a:p>
            <a:r>
              <a:t>39 linhas • validado</a:t>
            </a:r>
          </a:p>
        </p:txBody>
      </p:sp>
      <p:sp>
        <p:nvSpPr>
          <p:cNvPr id="9" name="Text 7"/>
          <p:cNvSpPr/>
          <p:nvPr/>
        </p:nvSpPr>
        <p:spPr>
          <a:xfrm>
            <a:off x="6355080" y="2834640"/>
            <a:ext cx="4892040" cy="74980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635" tIns="635" rIns="635" bIns="635" rtlCol="0" anchor="ctr"/>
          <a:lstStyle/>
          <a:p>
            <a:r>
              <a:t>tabela_final.parquet</a:t>
            </a:r>
          </a:p>
          <a:p>
            <a:r>
              <a:t>918 linhas • validado</a:t>
            </a:r>
          </a:p>
        </p:txBody>
      </p:sp>
      <p:sp>
        <p:nvSpPr>
          <p:cNvPr id="10" name="Text 8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[OK] trusted.reclamacoes -&gt; linhas_banco=918 | linhas_parquet=918</a:t>
            </a:r>
          </a:p>
          <a:p>
            <a:r>
              <a:rPr sz="1000">
                <a:solidFill>
                  <a:srgbClr val="FFFFFF"/>
                </a:solidFill>
              </a:rPr>
              <a:t>[ATENÇÃO] reexportar trusted.enquadramento após a deduplicação de CNPJ</a:t>
            </a:r>
          </a:p>
          <a:p>
            <a:r>
              <a:rPr sz="1000">
                <a:solidFill>
                  <a:srgbClr val="FFFFFF"/>
                </a:solidFill>
              </a:rPr>
              <a:t>[OK] trusted.glassdoor -&gt; linhas_banco=39 | linhas_parquet=39</a:t>
            </a:r>
          </a:p>
          <a:p>
            <a:r>
              <a:rPr sz="1000">
                <a:solidFill>
                  <a:srgbClr val="FFFFFF"/>
                </a:solidFill>
              </a:rPr>
              <a:t>[OK] delivery.tabela_final -&gt; linhas_banco=918 | linhas_parquet=918</a:t>
            </a:r>
          </a:p>
          <a:p>
            <a:r>
              <a:rPr sz="1000">
                <a:solidFill>
                  <a:srgbClr val="FFFFFF"/>
                </a:solidFill>
              </a:rPr>
              <a:t>REEXECUTAR EXPORTACAO APOS REVISAO DE CNPJ</a:t>
            </a:r>
          </a:p>
        </p:txBody>
      </p:sp>
      <p:sp>
        <p:nvSpPr>
          <p:cNvPr id="11" name="Text 9"/>
          <p:cNvSpPr/>
          <p:nvPr/>
        </p:nvSpPr>
        <p:spPr>
          <a:xfrm>
            <a:off x="914400" y="580644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67085"/>
                </a:solidFill>
              </a:rPr>
              <a:t>Parquet foi escolhido por ser formato colunar aberto, eficiente para armazenamento e leitura analítica.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10</a:t>
            </a:r>
            <a:endParaRPr lang="en-US" sz="86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Aprimoramentos após avaliação</a:t>
            </a:r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t>As críticas recebidas foram tratadas com mudanças estruturais no código, nos modelos dbt e nas evidências.</a:t>
            </a:r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31520" y="1417320"/>
            <a:ext cx="2011680" cy="502920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r>
              <a:rPr sz="1200"/>
              <a:t>CNPJ duplicado</a:t>
            </a:r>
          </a:p>
        </p:txBody>
      </p:sp>
      <p:sp>
        <p:nvSpPr>
          <p:cNvPr id="7" name="Text 5"/>
          <p:cNvSpPr/>
          <p:nvPr/>
        </p:nvSpPr>
        <p:spPr>
          <a:xfrm>
            <a:off x="2971800" y="1417320"/>
            <a:ext cx="2011680" cy="502920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r>
              <a:rPr sz="1200"/>
              <a:t>Unicode U+0096</a:t>
            </a:r>
          </a:p>
        </p:txBody>
      </p:sp>
      <p:sp>
        <p:nvSpPr>
          <p:cNvPr id="8" name="Text 6"/>
          <p:cNvSpPr/>
          <p:nvPr/>
        </p:nvSpPr>
        <p:spPr>
          <a:xfrm>
            <a:off x="5212080" y="1417320"/>
            <a:ext cx="2011680" cy="502920"/>
          </a:xfrm>
          <a:prstGeom prst="rect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635" tIns="635" rIns="635" bIns="635" rtlCol="0" anchor="ctr"/>
          <a:lstStyle/>
          <a:p>
            <a:r>
              <a:rPr sz="1200"/>
              <a:t>dbt nativo</a:t>
            </a:r>
          </a:p>
        </p:txBody>
      </p:sp>
      <p:sp>
        <p:nvSpPr>
          <p:cNvPr id="9" name="Text 7"/>
          <p:cNvSpPr/>
          <p:nvPr/>
        </p:nvSpPr>
        <p:spPr>
          <a:xfrm>
            <a:off x="7452360" y="1417320"/>
            <a:ext cx="2011680" cy="502920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r>
              <a:rPr sz="1200"/>
              <a:t>Macro SQL</a:t>
            </a:r>
          </a:p>
        </p:txBody>
      </p:sp>
      <p:sp>
        <p:nvSpPr>
          <p:cNvPr id="10" name="Text 8"/>
          <p:cNvSpPr/>
          <p:nvPr/>
        </p:nvSpPr>
        <p:spPr>
          <a:xfrm>
            <a:off x="9692640" y="1417320"/>
            <a:ext cx="1920240" cy="502920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r>
              <a:rPr sz="1200"/>
              <a:t>Ephemeral</a:t>
            </a:r>
          </a:p>
        </p:txBody>
      </p:sp>
      <p:sp>
        <p:nvSpPr>
          <p:cNvPr id="11" name="Text 9"/>
          <p:cNvSpPr/>
          <p:nvPr/>
        </p:nvSpPr>
        <p:spPr>
          <a:xfrm>
            <a:off x="868680" y="2423160"/>
            <a:ext cx="10332720" cy="24688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300"/>
              <a:t>• CNPJs duplicados foram deduplicados na Trusted: 1.474 linhas de origem para 1.459 CNPJs canônicos.</a:t>
            </a:r>
          </a:p>
          <a:p>
            <a:r>
              <a:rPr sz="1300"/>
              <a:t>• Aliases preservam nomes alternativos, evitando perda de informação no matching.</a:t>
            </a:r>
          </a:p>
          <a:p>
            <a:r>
              <a:rPr sz="1300"/>
              <a:t>• O U+0096 passou a ser tratado por função reutilizável em `text_utils.py`.</a:t>
            </a:r>
          </a:p>
          <a:p>
            <a:r>
              <a:rPr sz="1300"/>
              <a:t>• A Delivery foi simplificada e passou a consumir quatro modelos `intermediate` via `ref()`.</a:t>
            </a:r>
          </a:p>
          <a:p>
            <a:r>
              <a:rPr sz="1300"/>
              <a:t>• A macro `normalizar_nome` centralizou regra textual antes repetida em SQL.</a:t>
            </a:r>
          </a:p>
        </p:txBody>
      </p:sp>
      <p:sp>
        <p:nvSpPr>
          <p:cNvPr id="12" name="Text 10"/>
          <p:cNvSpPr/>
          <p:nvPr/>
        </p:nvSpPr>
        <p:spPr>
          <a:xfrm>
            <a:off x="914400" y="571500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200"/>
              <a:t>Lição metodológica: correções avaliativas devem ser incorporadas como regras testáveis e reutilizáveis, não como ajustes pontuais.</a:t>
            </a:r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11</a:t>
            </a:r>
            <a:endParaRPr lang="en-US" sz="8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Entregáveis e publicação no GitHub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O repositório público consolida código, dados, evidências, testes e artefatos finais.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828800" cy="658368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r>
              <a:rPr sz="1800"/>
              <a:t>Refatoração dbt</a:t>
            </a:r>
          </a:p>
          <a:p>
            <a:r>
              <a:rPr sz="1800"/>
              <a:t>548668c</a:t>
            </a:r>
          </a:p>
        </p:txBody>
      </p:sp>
      <p:sp>
        <p:nvSpPr>
          <p:cNvPr id="7" name="Text 5"/>
          <p:cNvSpPr/>
          <p:nvPr/>
        </p:nvSpPr>
        <p:spPr>
          <a:xfrm>
            <a:off x="2971800" y="1417320"/>
            <a:ext cx="1508760" cy="658368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Branch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main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754880" y="1417320"/>
            <a:ext cx="1691640" cy="658368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Repositório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público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720840" y="1417320"/>
            <a:ext cx="1874520" cy="658368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r>
              <a:rPr sz="1800"/>
              <a:t>Build</a:t>
            </a:r>
          </a:p>
          <a:p>
            <a:r>
              <a:rPr sz="1800"/>
              <a:t>34/34 PASS</a:t>
            </a:r>
          </a:p>
        </p:txBody>
      </p:sp>
      <p:sp>
        <p:nvSpPr>
          <p:cNvPr id="10" name="Text 8"/>
          <p:cNvSpPr/>
          <p:nvPr/>
        </p:nvSpPr>
        <p:spPr>
          <a:xfrm>
            <a:off x="8915400" y="1417320"/>
            <a:ext cx="2057400" cy="658368"/>
          </a:xfrm>
          <a:prstGeom prst="rect">
            <a:avLst/>
          </a:prstGeom>
          <a:solidFill>
            <a:srgbClr val="F3E8FF"/>
          </a:solidFill>
          <a:ln>
            <a:solidFill>
              <a:srgbClr val="F3E8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Credenciais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6D28D9"/>
                </a:solidFill>
              </a:rPr>
              <a:t>ignoradas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2880360"/>
            <a:ext cx="5394960" cy="219456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r>
              <a:rPr sz="1000">
                <a:solidFill>
                  <a:srgbClr val="FFFFFF"/>
                </a:solidFill>
              </a:rPr>
              <a:t>git push origin main</a:t>
            </a:r>
          </a:p>
          <a:p>
            <a:r>
              <a:rPr sz="1000">
                <a:solidFill>
                  <a:srgbClr val="FFFFFF"/>
                </a:solidFill>
              </a:rPr>
              <a:t>4955f16..548668c  main -&gt; main</a:t>
            </a:r>
          </a:p>
          <a:p/>
          <a:p>
            <a:r>
              <a:rPr sz="1000">
                <a:solidFill>
                  <a:srgbClr val="FFFFFF"/>
                </a:solidFill>
              </a:rPr>
              <a:t>git status</a:t>
            </a:r>
          </a:p>
          <a:p>
            <a:r>
              <a:rPr sz="1000">
                <a:solidFill>
                  <a:srgbClr val="FFFFFF"/>
                </a:solidFill>
              </a:rPr>
              <a:t>On branch main</a:t>
            </a:r>
          </a:p>
          <a:p>
            <a:r>
              <a:rPr sz="1000">
                <a:solidFill>
                  <a:srgbClr val="FFFFFF"/>
                </a:solidFill>
              </a:rPr>
              <a:t>Your branch is up to date with origin/main.</a:t>
            </a:r>
          </a:p>
          <a:p>
            <a:r>
              <a:rPr sz="1000">
                <a:solidFill>
                  <a:srgbClr val="FFFFFF"/>
                </a:solidFill>
              </a:rPr>
              <a:t>nothing to commit, working tree clean</a:t>
            </a:r>
          </a:p>
        </p:txBody>
      </p:sp>
      <p:sp>
        <p:nvSpPr>
          <p:cNvPr id="12" name="Text 10"/>
          <p:cNvSpPr/>
          <p:nvPr/>
        </p:nvSpPr>
        <p:spPr>
          <a:xfrm>
            <a:off x="6629400" y="2880360"/>
            <a:ext cx="457200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200"/>
              <a:t>• Dockerfiles e Compose para reexecução local.</a:t>
            </a:r>
          </a:p>
          <a:p>
            <a:r>
              <a:rPr sz="1200"/>
              <a:t>• Scripts Python para ingestão, Unicode e exportação Parquet.</a:t>
            </a:r>
          </a:p>
          <a:p>
            <a:r>
              <a:rPr sz="1200"/>
              <a:t>• Modelos dbt Trusted, Intermediate e Delivery.</a:t>
            </a:r>
          </a:p>
          <a:p>
            <a:r>
              <a:rPr sz="1200"/>
              <a:t>• Macro `normalizar_nome` e testes automatizados.</a:t>
            </a:r>
          </a:p>
          <a:p>
            <a:r>
              <a:rPr sz="1200"/>
              <a:t>• Evidências das correções: CNPJ, Unicode e refatoração dbt.</a:t>
            </a:r>
          </a:p>
        </p:txBody>
      </p:sp>
      <p:sp>
        <p:nvSpPr>
          <p:cNvPr id="13" name="Text 11"/>
          <p:cNvSpPr/>
          <p:nvPr/>
        </p:nvSpPr>
        <p:spPr>
          <a:xfrm>
            <a:off x="868680" y="5650992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0" b="1" dirty="0">
                <a:solidFill>
                  <a:srgbClr val="1F5EFF"/>
                </a:solidFill>
              </a:rPr>
              <a:t>URL: https://github.com/brtostes/C3-Trabalho-Ingestao-Pipeline-Atividade4</a:t>
            </a:r>
            <a:endParaRPr lang="en-US" sz="1120" dirty="0"/>
          </a:p>
        </p:txBody>
      </p:sp>
      <p:sp>
        <p:nvSpPr>
          <p:cNvPr id="14" name="Text 12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12</a:t>
            </a:r>
            <a:endParaRPr lang="en-US" sz="86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Conclusões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A atividade resultou em um pipeline funcional, auditável e reproduzível, com separação clara de responsabilidades.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914400" y="1417320"/>
            <a:ext cx="1828800" cy="658368"/>
          </a:xfrm>
          <a:prstGeom prst="rect">
            <a:avLst/>
          </a:prstGeom>
          <a:solidFill>
            <a:srgbClr val="EAF2FF"/>
          </a:solidFill>
          <a:ln>
            <a:solidFill>
              <a:srgbClr val="EAF2FF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Ingestão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1F5EFF"/>
                </a:solidFill>
              </a:rPr>
              <a:t>Python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2880360" y="1737360"/>
            <a:ext cx="77724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6"/>
          <p:cNvSpPr/>
          <p:nvPr/>
        </p:nvSpPr>
        <p:spPr>
          <a:xfrm>
            <a:off x="3794760" y="1417320"/>
            <a:ext cx="2011680" cy="658368"/>
          </a:xfrm>
          <a:prstGeom prst="rect">
            <a:avLst/>
          </a:prstGeom>
          <a:solidFill>
            <a:srgbClr val="E6FFFB"/>
          </a:solidFill>
          <a:ln>
            <a:solidFill>
              <a:srgbClr val="E6FFFB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Transformação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00A6A6"/>
                </a:solidFill>
              </a:rPr>
              <a:t>dbt + SQL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943600" y="17373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8"/>
          <p:cNvSpPr/>
          <p:nvPr/>
        </p:nvSpPr>
        <p:spPr>
          <a:xfrm>
            <a:off x="6812280" y="1417320"/>
            <a:ext cx="2423160" cy="658368"/>
          </a:xfrm>
          <a:prstGeom prst="rect">
            <a:avLst/>
          </a:prstGeom>
          <a:solidFill>
            <a:srgbClr val="ECFDF3"/>
          </a:solidFill>
          <a:ln>
            <a:solidFill>
              <a:srgbClr val="ECFDF3"/>
            </a:solidFill>
          </a:ln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Entrega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b="1" dirty="0">
                <a:solidFill>
                  <a:srgbClr val="2E7D32"/>
                </a:solidFill>
              </a:rPr>
              <a:t>PostgreSQL + Parquet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372600" y="1737360"/>
            <a:ext cx="731520" cy="0"/>
          </a:xfrm>
          <a:prstGeom prst="line">
            <a:avLst/>
          </a:prstGeom>
          <a:noFill/>
          <a:ln w="19050">
            <a:solidFill>
              <a:srgbClr val="667085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10"/>
          <p:cNvSpPr/>
          <p:nvPr/>
        </p:nvSpPr>
        <p:spPr>
          <a:xfrm>
            <a:off x="10241280" y="1417320"/>
            <a:ext cx="1554480" cy="658368"/>
          </a:xfrm>
          <a:prstGeom prst="rect">
            <a:avLst/>
          </a:prstGeom>
          <a:solidFill>
            <a:srgbClr val="FFF7E6"/>
          </a:solidFill>
          <a:ln>
            <a:solidFill>
              <a:srgbClr val="FFF7E6"/>
            </a:solidFill>
          </a:ln>
        </p:spPr>
        <p:txBody>
          <a:bodyPr wrap="square" lIns="635" tIns="635" rIns="635" bIns="635" rtlCol="0" anchor="ctr"/>
          <a:lstStyle/>
          <a:p>
            <a:r>
              <a:rPr sz="1600"/>
              <a:t>Qualidade</a:t>
            </a:r>
          </a:p>
          <a:p>
            <a:r>
              <a:rPr sz="1600"/>
              <a:t>34/34 build</a:t>
            </a:r>
          </a:p>
        </p:txBody>
      </p:sp>
      <p:sp>
        <p:nvSpPr>
          <p:cNvPr id="13" name="Text 11"/>
          <p:cNvSpPr/>
          <p:nvPr/>
        </p:nvSpPr>
        <p:spPr>
          <a:xfrm>
            <a:off x="914400" y="2743200"/>
            <a:ext cx="1014984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rmAutofit/>
          </a:bodyPr>
          <a:lstStyle/>
          <a:p>
            <a:r>
              <a:rPr sz="1300"/>
              <a:t>• A granularidade analítica foi preservada: 918 reclamações entraram na Delivery e 918 linhas foram produzidas.</a:t>
            </a:r>
          </a:p>
          <a:p>
            <a:r>
              <a:rPr sz="1300"/>
              <a:t>• CNPJs duplicados foram tratados com canonicidade, aliases e testes de unicidade.</a:t>
            </a:r>
          </a:p>
          <a:p>
            <a:r>
              <a:rPr sz="1300"/>
              <a:t>• O U+0096 foi corrigido por função reutilizável na ingestão, sem afetar dados de negócio.</a:t>
            </a:r>
          </a:p>
          <a:p>
            <a:r>
              <a:rPr sz="1300"/>
              <a:t>• A transformação foi refatorada para DAG dbt com modelos `intermediate`, macro e `ref()`.</a:t>
            </a:r>
          </a:p>
          <a:p>
            <a:r>
              <a:rPr sz="1300"/>
              <a:t>• Os testes dbt transformaram validações manuais em controles automatizados.</a:t>
            </a:r>
          </a:p>
        </p:txBody>
      </p:sp>
      <p:sp>
        <p:nvSpPr>
          <p:cNvPr id="14" name="Text 12"/>
          <p:cNvSpPr/>
          <p:nvPr/>
        </p:nvSpPr>
        <p:spPr>
          <a:xfrm>
            <a:off x="914400" y="562356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1200"/>
              <a:t>Resultado central: pipeline reprodutível, auditável e mais aderente aos recursos nativos do dbt.</a:t>
            </a:r>
          </a:p>
        </p:txBody>
      </p:sp>
      <p:sp>
        <p:nvSpPr>
          <p:cNvPr id="15" name="Text 13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6" name="Text 14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13</a:t>
            </a:r>
            <a:endParaRPr lang="en-US" sz="86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0040"/>
            <a:ext cx="7909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B1F3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Referências técnicas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12064" y="768096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67085"/>
                </a:solidFill>
              </a:rPr>
              <a:t>Fontes usadas para fundamentar as escolhas de ferramentas e formatos.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8823960" y="438912"/>
            <a:ext cx="2788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80" b="1" dirty="0">
                <a:solidFill>
                  <a:srgbClr val="00A6A6"/>
                </a:solidFill>
              </a:rPr>
              <a:t>Atividade 4 • Python + PostgreSQL + dbt + Docker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02920" y="1060704"/>
            <a:ext cx="11201400" cy="0"/>
          </a:xfrm>
          <a:prstGeom prst="line">
            <a:avLst/>
          </a:prstGeom>
          <a:noFill/>
          <a:ln w="12700">
            <a:solidFill>
              <a:srgbClr val="D0D5DD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4"/>
          <p:cNvSpPr/>
          <p:nvPr/>
        </p:nvSpPr>
        <p:spPr>
          <a:xfrm>
            <a:off x="777240" y="137160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Apache Software Foundation. (2026). Apache Parquet. DOI: não atribuído. https://parquet.apache.org/</a:t>
            </a:r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dbt Labs. (2026). About dbt build command. DOI: não atribuído. https://docs.getdbt.com/reference/commands/build</a:t>
            </a:r>
          </a:p>
        </p:txBody>
      </p:sp>
      <p:sp>
        <p:nvSpPr>
          <p:cNvPr id="8" name="Text 6"/>
          <p:cNvSpPr/>
          <p:nvPr/>
        </p:nvSpPr>
        <p:spPr>
          <a:xfrm>
            <a:off x="777240" y="2761488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dbt Labs. (2026). Data tests. DOI: não atribuído. https://docs.getdbt.com/docs/build/data-tests</a:t>
            </a:r>
          </a:p>
        </p:txBody>
      </p:sp>
      <p:sp>
        <p:nvSpPr>
          <p:cNvPr id="9" name="Text 7"/>
          <p:cNvSpPr/>
          <p:nvPr/>
        </p:nvSpPr>
        <p:spPr>
          <a:xfrm>
            <a:off x="777240" y="3456432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dbt Labs. (2026). Jinja and macros. DOI: não atribuído. https://docs.getdbt.com/docs/build/jinja-macros</a:t>
            </a:r>
          </a:p>
          <a:p>
            <a:r>
              <a:rPr sz="800"/>
              <a:t>dbt Labs. (2026). Materializations. DOI: não atribuído. https://docs.getdbt.com/docs/build/materializations</a:t>
            </a:r>
          </a:p>
        </p:txBody>
      </p:sp>
      <p:sp>
        <p:nvSpPr>
          <p:cNvPr id="10" name="Text 8"/>
          <p:cNvSpPr/>
          <p:nvPr/>
        </p:nvSpPr>
        <p:spPr>
          <a:xfrm>
            <a:off x="777240" y="4151376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dbt Labs. (2026). ref function. DOI: não atribuído. https://docs.getdbt.com/reference/dbt-jinja-functions/ref</a:t>
            </a:r>
          </a:p>
          <a:p>
            <a:r>
              <a:rPr sz="800"/>
              <a:t>Docker Inc. (2026). Compose file reference. DOI: não atribuído. https://docs.docker.com/reference/compose-file/</a:t>
            </a:r>
          </a:p>
        </p:txBody>
      </p:sp>
      <p:sp>
        <p:nvSpPr>
          <p:cNvPr id="11" name="Text 9"/>
          <p:cNvSpPr/>
          <p:nvPr/>
        </p:nvSpPr>
        <p:spPr>
          <a:xfrm>
            <a:off x="777240" y="4846320"/>
            <a:ext cx="10789920" cy="438912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r>
              <a:rPr sz="800"/>
              <a:t>The PostgreSQL Global Development Group. (2026). PostgreSQL Documentation. DOI: não atribuído. https://www.postgresql.org/docs/current/</a:t>
            </a:r>
          </a:p>
        </p:txBody>
      </p:sp>
      <p:sp>
        <p:nvSpPr>
          <p:cNvPr id="12" name="Text 10"/>
          <p:cNvSpPr/>
          <p:nvPr/>
        </p:nvSpPr>
        <p:spPr>
          <a:xfrm>
            <a:off x="777240" y="5806440"/>
            <a:ext cx="10789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30" dirty="0">
                <a:solidFill>
                  <a:srgbClr val="667085"/>
                </a:solidFill>
              </a:rPr>
              <a:t>Observação: documentações técnicas oficiais normalmente não possuem DOI; por isso o campo foi indicado como “não atribuído”.</a:t>
            </a:r>
            <a:endParaRPr lang="en-US" sz="930" dirty="0"/>
          </a:p>
        </p:txBody>
      </p:sp>
      <p:sp>
        <p:nvSpPr>
          <p:cNvPr id="13" name="Text 11"/>
          <p:cNvSpPr/>
          <p:nvPr/>
        </p:nvSpPr>
        <p:spPr>
          <a:xfrm>
            <a:off x="502920" y="649224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20" dirty="0">
                <a:solidFill>
                  <a:srgbClr val="667085"/>
                </a:solidFill>
              </a:rPr>
              <a:t>Engenharia de Dados — Ingestão e Pipeline</a:t>
            </a:r>
            <a:endParaRPr lang="en-US" sz="820" dirty="0"/>
          </a:p>
        </p:txBody>
      </p:sp>
      <p:sp>
        <p:nvSpPr>
          <p:cNvPr id="14" name="Text 12"/>
          <p:cNvSpPr/>
          <p:nvPr/>
        </p:nvSpPr>
        <p:spPr>
          <a:xfrm>
            <a:off x="11247120" y="643737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60" b="1" dirty="0">
                <a:solidFill>
                  <a:srgbClr val="667085"/>
                </a:solidFill>
              </a:rPr>
              <a:t>14</a:t>
            </a:r>
            <a:endParaRPr lang="en-US" sz="86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2401</Words>
  <Application>Microsoft Office PowerPoint</Application>
  <PresentationFormat>Widescreen</PresentationFormat>
  <Paragraphs>329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PECE/Poli/USP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 4 — Pipeline de Ingestão, Transformação e Delivery</dc:title>
  <dc:subject>Atividade 4 - Engenharia de Dados</dc:subject>
  <dc:creator>OpenAI</dc:creator>
  <cp:lastModifiedBy>Breno Tostes Garcia</cp:lastModifiedBy>
  <cp:revision>1</cp:revision>
  <dcterms:created xsi:type="dcterms:W3CDTF">2026-08-23T22:28:26Z</dcterms:created>
  <dcterms:modified xsi:type="dcterms:W3CDTF">2026-08-23T22:34:43Z</dcterms:modified>
</cp:coreProperties>
</file>