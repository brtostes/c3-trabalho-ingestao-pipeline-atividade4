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586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6A6"/>
                </a:solidFill>
              </a:rPr>
              <a:t>Tarefa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de Ingestão, Transformação e Delivery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6916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0D5DD"/>
                </a:solidFill>
              </a:rPr>
              <a:t>Python • PostgreSQL • dbt • Docker • Parquet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828800" cy="868680"/>
          </a:xfrm>
          <a:prstGeom prst="rect">
            <a:avLst/>
          </a:prstGeom>
          <a:solidFill>
            <a:srgbClr val="173B57"/>
          </a:solidFill>
          <a:ln>
            <a:solidFill>
              <a:srgbClr val="173B57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2.431 linhas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97480" y="3355848"/>
            <a:ext cx="1143000" cy="0"/>
          </a:xfrm>
          <a:prstGeom prst="line">
            <a:avLst/>
          </a:prstGeom>
          <a:noFill/>
          <a:ln w="22860">
            <a:solidFill>
              <a:srgbClr val="00A6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977640" y="2926080"/>
            <a:ext cx="2377440" cy="868680"/>
          </a:xfrm>
          <a:prstGeom prst="rect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TRUSTED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918 • 1.474 • 39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92240" y="3355848"/>
            <a:ext cx="1143000" cy="0"/>
          </a:xfrm>
          <a:prstGeom prst="line">
            <a:avLst/>
          </a:prstGeom>
          <a:noFill/>
          <a:ln w="22860">
            <a:solidFill>
              <a:srgbClr val="00A6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772400" y="2926080"/>
            <a:ext cx="1920240" cy="8686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DELIVERY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918 linhas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966960" y="2926080"/>
            <a:ext cx="1554480" cy="8686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24/24 testes dbt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28/28 build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5DD"/>
                </a:solidFill>
              </a:rPr>
              <a:t>Repositório publicado: github.com/brtostes/C3-Trabalho-Ingestao-Pipeline-Atividade4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e requisitos da atividade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Transformar arquivos de entrada em uma tabela analítica final, com camadas controladas e validação reprodutível.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1874520" cy="73152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EFF"/>
                </a:solidFill>
              </a:rPr>
              <a:t>Python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5EFF"/>
                </a:solidFill>
              </a:rPr>
              <a:t>ingestão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17520" y="1508760"/>
            <a:ext cx="2057400" cy="73152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6A6"/>
                </a:solidFill>
              </a:rPr>
              <a:t>SQL/dbt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0A6A6"/>
                </a:solidFill>
              </a:rPr>
              <a:t>transformação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40680" y="1508760"/>
            <a:ext cx="2057400" cy="73152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</a:rPr>
              <a:t>PostgreSQL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</a:rPr>
              <a:t>Delivery final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0" y="1508760"/>
            <a:ext cx="2194560" cy="73152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</a:rPr>
              <a:t>Parquet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</a:rPr>
              <a:t>Trusted/Delivery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78440" y="1508760"/>
            <a:ext cx="1325880" cy="731520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GitHub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reprodutibilidade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10698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</a:rPr>
              <a:t>• Executar a atividade em ambiente Docker, com PostgreSQL isolado por serviço.
• Ingerir as bases de entrada na camada RAW preservando metadados de origem.
• Realizar tratamento, tipagem, normalização e integração por SQL/dbt.
• Gerar tabela final Delivery no banco relacional e arquivos Parquet.
• Registrar evidências, testes automatizados e publicação em repositório público.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257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3"/>
                </a:solidFill>
              </a:rPr>
              <a:t>Princípio operacional: separar ingestão física da transformação semântica.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01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Arquitetura implementada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Pipeline conteinerizado com três serviços: postgres, ingest e dbt.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3716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10 arquivos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CSV/TSV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94560" y="2432304"/>
            <a:ext cx="5486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2852928" y="2103120"/>
            <a:ext cx="1280160" cy="64008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</a:rPr>
              <a:t>Python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</a:rPr>
              <a:t>ingest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2432304"/>
            <a:ext cx="5486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910328" y="2103120"/>
            <a:ext cx="1463040" cy="640080"/>
          </a:xfrm>
          <a:prstGeom prst="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PostgreSQL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RAW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2432304"/>
            <a:ext cx="5486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150608" y="2103120"/>
            <a:ext cx="1463040" cy="64008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6A6"/>
                </a:solidFill>
              </a:rPr>
              <a:t>dbt 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0A6A6"/>
                </a:solidFill>
              </a:rPr>
              <a:t>Trusted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32520" y="2432304"/>
            <a:ext cx="5029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345168" y="2103120"/>
            <a:ext cx="1463040" cy="64008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dbt 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Delivery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27080" y="2432304"/>
            <a:ext cx="4572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1475720" y="2103120"/>
            <a:ext cx="576072" cy="64008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</a:rPr>
              <a:t>Parquet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703320"/>
            <a:ext cx="4892040" cy="17830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postgres: image postgres:17 + healthcheck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ingest:   Python 3.12 + pandas + psycopg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dbt:      dbt-postgres + DBT_PROFILES_DIR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depends_on: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postgres: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condition: service_healthy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26480" y="3675888"/>
            <a:ext cx="52578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0B1F33"/>
                </a:solidFill>
              </a:rPr>
              <a:t>• A porta externa do PostgreSQL foi 5434, mas dbt e ingest acessaram o banco pela rede Docker em postgres:5432.
• O healthcheck evitou falhas de inicialização, pois ingest/dbt só executam após o banco estar saudável.
• As credenciais locais ficaram em `.env`, protegido por `.gitignore`.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22960" y="58064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Base técnica: Docker Compose permite definir serviços, redes e volumes em um arquivo YAML; healthchecks declaram quando o serviço está pronto para uso.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02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 final do projeto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Organização da entrega com código, dados, evidências e artefatos de saída.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5120640" cy="46634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Trabalho-04/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Dockerfile.python    ├─ Dockerfile.dbt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docker-compose.yml   ├─ requirements.txt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scripts/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ingest_raw.py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 export_parquet.py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dbt/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models/trusted/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├─ models/delivery/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└─ tests/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data/input/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data/trusted/*.parquet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data/delivery/tabela_final.parquet</a:t>
            </a:r>
            <a:endParaRPr lang="en-US" sz="1070" dirty="0"/>
          </a:p>
          <a:p>
            <a:pPr marL="0" indent="0">
              <a:buNone/>
            </a:pPr>
            <a:r>
              <a:rPr lang="en-US" sz="107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evidencias/</a:t>
            </a:r>
            <a:endParaRPr lang="en-US" sz="1070" dirty="0"/>
          </a:p>
        </p:txBody>
      </p:sp>
      <p:sp>
        <p:nvSpPr>
          <p:cNvPr id="7" name="Text 5"/>
          <p:cNvSpPr/>
          <p:nvPr/>
        </p:nvSpPr>
        <p:spPr>
          <a:xfrm>
            <a:off x="640080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</a:rPr>
              <a:t>61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arquivos versionados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0" y="141732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A6"/>
                </a:solidFill>
              </a:rPr>
              <a:t>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modelos dbt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875520" y="14173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</a:rPr>
              <a:t>24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75520" y="1920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testes de dados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0" y="297180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0" y="3474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arquivos Parquet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12480" y="29718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8D9"/>
                </a:solidFill>
              </a:rPr>
              <a:t>0f5bcd7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3474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commit publicado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0" y="4754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Repositório público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51389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5EFF"/>
                </a:solidFill>
              </a:rPr>
              <a:t>github.com/brtostes/C3-Trabalho-Ingestao-Pipeline-Atividade4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03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Camada RAW: ingestão física preservada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Python lê os arquivos, cria tabelas em PostgreSQL e acrescenta metadados de rastreabilidade.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</a:rPr>
              <a:t>10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arquivos processados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4320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A6"/>
                </a:solidFill>
              </a:rPr>
              <a:t>2.431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7432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RAW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0916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</a:rPr>
              <a:t>10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0916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tabelas RAW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62940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294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metadados por linha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2880360"/>
            <a:ext cx="5669280" cy="24688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read_file(path):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path.suffix == ".tsv":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pd.read_csv(path, sep="\t", dtype=str)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filename.startswith("glassdoor_"):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pd.read_csv(path, sep="|", dtype=str)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pd.read_csv(path, sep=None, engine="python", dtype=str)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df["_source_file"] = path.name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df["_source_row_number"] = range(1, len(df)+1)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df["_ingested_at_utc"] = now_utc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903720" y="3063240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3"/>
                </a:solidFill>
              </a:rPr>
              <a:t>RAW não faz regra de negócio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03720" y="3749040"/>
            <a:ext cx="42062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0B1F33"/>
                </a:solidFill>
              </a:rPr>
              <a:t>• Todos os campos de origem foram carregados como texto.
• A interpretação física do arquivo foi corrigida apenas quando necessário: TSV por tabulação; Glassdoor por pipe `|`.
• As transformações semânticas ficaram exclusivamente no dbt/SQL.</a:t>
            </a:r>
            <a:endParaRPr lang="en-US" sz="1230" dirty="0"/>
          </a:p>
        </p:txBody>
      </p:sp>
      <p:sp>
        <p:nvSpPr>
          <p:cNvPr id="17" name="Text 15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04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Validação da RAW: problemas detectados e corrigidos no ponto certo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carga bem-sucedida não foi tratada como sinônimo de qualidade; houve inspeção de esquema, cardinalidade e cabeçalhos.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2286000" cy="685800"/>
          </a:xfrm>
          <a:prstGeom prst="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Glassdoor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18 colunas incorretas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1938528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977640" y="1600200"/>
            <a:ext cx="228600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Diagnóstico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22 pipes = 23 campos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938528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269480" y="1600200"/>
            <a:ext cx="1920240" cy="68580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Correção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sep="|"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0" y="1938528"/>
            <a:ext cx="59436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0058400" y="1600200"/>
            <a:ext cx="1600200" cy="68580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0A6A6"/>
                </a:solidFill>
              </a:rPr>
              <a:t>RAW válida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b="1" dirty="0">
                <a:solidFill>
                  <a:srgbClr val="00A6A6"/>
                </a:solidFill>
              </a:rPr>
              <a:t>23 + 3 colunas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777240" y="3063240"/>
            <a:ext cx="4937760" cy="233172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Problemas observados: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Cabeçalhos Glassdoor fragmentados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Caractere U+0096 em colunas de clientes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Coluna Unnamed: 14 vazia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BOM UTF-8 em SQL gerado por PowerShell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Aspas/acentuação em comandos psql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6364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Decisão metodológica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352044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B1F33"/>
                </a:solidFill>
              </a:rPr>
              <a:t>• Corrigir parsing físico na ingestão quando o delimitador real foi comprovado.
• Preservar cabeçalhos problemáticos na RAW e normalizá-los somente na Trusted.
• Excluir `Unnamed: 14` apenas após evidência de 100% vazio nas sete bases trimestrais.
• Manter CNPJ como texto para preservar zeros à esquerda.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05</a:t>
            </a:r>
            <a:endParaRPr lang="en-US" sz="8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Camada Trusted: tratamento, tipagem e padronização via dbt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Três modelos materializados como tabelas no schema trusted.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2560320" cy="59436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trusted.reclamacoes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918 linhas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2560320" cy="59436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trusted.enquadramento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1.474 linhas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37960" y="1417320"/>
            <a:ext cx="2560320" cy="59436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trusted.glassdoor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39 linhas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72600" y="1417320"/>
            <a:ext cx="1920240" cy="59436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SQL/dbt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100% transformação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6492240" cy="2286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Exemplo 1: trimestre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regexp_replace(trim("Trimestre"), '[^0-9]', '', 'g')::integer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Exemplo 2: índice decimal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replace(trim("Índice"), ',', '.')::numeric(18,4)</a:t>
            </a:r>
            <a:endParaRPr lang="en-US" sz="960" dirty="0"/>
          </a:p>
          <a:p>
            <a:pPr marL="0" indent="0">
              <a:buNone/>
            </a:pP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Exemplo 3: CNPJ-base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lpad(trim("CNPJ"), 8, '0') as cnpj_if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7726680" y="2761488"/>
            <a:ext cx="356616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B1F33"/>
                </a:solidFill>
              </a:rPr>
              <a:t>• Reclamações: consolidação de sete trimestres por UNION ALL.
• Enquadramento: CNPJ-base normalizado para oito dígitos.
• Glassdoor: consolidação de match e match_less com indicadores de origem.
• Metadados técnicos preservados para rastreabilidade.</a:t>
            </a:r>
            <a:endParaRPr lang="en-US" sz="1220" dirty="0"/>
          </a:p>
        </p:txBody>
      </p:sp>
      <p:sp>
        <p:nvSpPr>
          <p:cNvPr id="12" name="Text 10"/>
          <p:cNvSpPr/>
          <p:nvPr/>
        </p:nvSpPr>
        <p:spPr>
          <a:xfrm>
            <a:off x="868680" y="56509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085"/>
                </a:solidFill>
              </a:rPr>
              <a:t>O dbt materializa modelos SQL e permite testar as saídas como parte do mesmo grafo de dependências.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06</a:t>
            </a:r>
            <a:endParaRPr lang="en-US" sz="8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Camada Delivery: integração com controle de cardinalidade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tabela final enriquece as reclamações sem alterar a granularidade original.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2011680" cy="64008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5EFF"/>
                </a:solidFill>
              </a:rPr>
              <a:t>trusted.reclamacoes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5EFF"/>
                </a:solidFill>
              </a:rPr>
              <a:t>918 linhas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26080" y="1965960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794760" y="1280160"/>
            <a:ext cx="2194560" cy="59436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6A6"/>
                </a:solidFill>
              </a:rPr>
              <a:t>enquadramento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0A6A6"/>
                </a:solidFill>
              </a:rPr>
              <a:t>canônico por CNPJ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2057400"/>
            <a:ext cx="2194560" cy="594360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D28D9"/>
                </a:solidFill>
              </a:rPr>
              <a:t>aliases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6D28D9"/>
                </a:solidFill>
              </a:rPr>
              <a:t>para localizar Glassdoor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965960"/>
            <a:ext cx="7772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040880" y="1645920"/>
            <a:ext cx="1828800" cy="64008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</a:rPr>
              <a:t>Glassdoor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</a:rPr>
              <a:t>rankeado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06840" y="1965960"/>
            <a:ext cx="64008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9784080" y="1645920"/>
            <a:ext cx="1828800" cy="64008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delivery.tabela_final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918 linhas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68680" y="30632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Regras de desempate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474720"/>
            <a:ext cx="50292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</a:rPr>
              <a:t>• Enquadramento: preferir sufixo `- PRUDENCIAL`; depois menor linha de origem.
• Glassdoor: maior match_percent; depois `match`; depois reviews_count; depois nome.
• Reclamações sem CNPJ: comparar nome normalizado após remover `(conglomerado)`.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6309360" y="3017520"/>
            <a:ext cx="4937760" cy="1554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row_number() over (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partition by cnpj_if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 by match_percent desc,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case when tipo_match = 'match' then 1 else 2 end,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reviews_count desc, employer_name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rn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868680" y="557784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</a:rPr>
              <a:t>Controle crítico: `delivery_cardinalidade` e `delivery_granularidade` impedem perda ou multiplicação de linhas.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07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Resultados quantitativos da Delivery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Tabela final preservou a cardinalidade e explicitou a cobertura dos enriquecimentos.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</a:rPr>
              <a:t>918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na tabela final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68880" y="13258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</a:rPr>
              <a:t>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468880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diferença vs Trusted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60520" y="132588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A6"/>
                </a:solidFill>
              </a:rPr>
              <a:t>321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16052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com enquadramento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13258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136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09360" y="1828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com Glassdoor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0" y="1325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8D9"/>
                </a:solidFill>
              </a:rPr>
              <a:t>24,95%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22960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cobertura Glassdoor nos sem CNPJ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3108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Total Delivery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200400" y="3127248"/>
            <a:ext cx="2743200" cy="16459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035040" y="30906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918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868680" y="35661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Com enquadramento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200400" y="3584448"/>
            <a:ext cx="959224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035040" y="35478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321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868680" y="40233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Com Glassdoor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200400" y="4041648"/>
            <a:ext cx="40640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603504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136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868680" y="44805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Sem Glassdoor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200400" y="4498848"/>
            <a:ext cx="2336800" cy="164592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035040" y="44622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782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736092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Método de vínculo Glassdoor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6092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sem correspondência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692640" y="3538728"/>
            <a:ext cx="1246293" cy="164592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1247120" y="35021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782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60920" y="39776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nome_conglomerado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9692640" y="3995928"/>
            <a:ext cx="191247" cy="16459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247120" y="3959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120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7360920" y="4434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alias_enquadramento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9692640" y="4453128"/>
            <a:ext cx="4572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1247120" y="44165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16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86868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667085"/>
                </a:solidFill>
              </a:rPr>
              <a:t>Leitura: o processo priorizou integridade e rastreabilidade; a cobertura reflete a qualidade e a disponibilidade das fontes de enriquecimento.</a:t>
            </a:r>
            <a:endParaRPr lang="en-US" sz="1130" dirty="0"/>
          </a:p>
        </p:txBody>
      </p:sp>
      <p:sp>
        <p:nvSpPr>
          <p:cNvPr id="39" name="Text 37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08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Testes e reprodutibilidade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qualidade foi automatizada com testes declarativos e singulares no dbt.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</a:rPr>
              <a:t>24/24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testes dbt PASS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834640" y="146304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</a:rPr>
              <a:t>28/28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3464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dbt build PASS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00600" y="146304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A6"/>
                </a:solidFill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80060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modelos reconstruídos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12280" y="1463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warnings e erros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971800"/>
            <a:ext cx="5120640" cy="141732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run --rm dbt dbt test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 PASS=24 WARN=0 ERROR=0 TOTAL=24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run --rm dbt dbt build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 PASS=28 WARN=0 ERROR=0 TOTAL=28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2788920"/>
            <a:ext cx="48463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</a:rPr>
              <a:t>• not_null: campos essenciais de modelos Trusted e Delivery.
• accepted_values: trimestre em 1–4; segmentos S1–S5; tipo_match válido.
• singular tests: cardinalidade, granularidade, coerência do Glassdoor e faixa de match_percent.
• Falha futura no relacionamento muitos-para-muitos gera erro automático.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868680" y="57150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dbt data tests são consultas SQL que retornam registros inválidos; se retornam zero linhas, o teste é aprovado.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09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Materialização em Parquet e evidência de reprodutibilidade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Trusted e Delivery foram exportadas para formato colunar e validadas por leitura de retorno.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1F5EFF"/>
                </a:solidFill>
              </a:rPr>
              <a:t>reclamacoes.parquet</a:t>
            </a:r>
            <a:endParaRPr lang="en-US" sz="1240" dirty="0"/>
          </a:p>
          <a:p>
            <a:pPr marL="0" indent="0" algn="ctr">
              <a:buNone/>
            </a:pPr>
            <a:r>
              <a:rPr lang="en-US" sz="1240" b="1" dirty="0">
                <a:solidFill>
                  <a:srgbClr val="1F5EFF"/>
                </a:solidFill>
              </a:rPr>
              <a:t>918 linhas • 45.956 bytes</a:t>
            </a:r>
            <a:endParaRPr lang="en-US" sz="1240" dirty="0"/>
          </a:p>
        </p:txBody>
      </p:sp>
      <p:sp>
        <p:nvSpPr>
          <p:cNvPr id="7" name="Text 5"/>
          <p:cNvSpPr/>
          <p:nvPr/>
        </p:nvSpPr>
        <p:spPr>
          <a:xfrm>
            <a:off x="6355080" y="150876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00A6A6"/>
                </a:solidFill>
              </a:rPr>
              <a:t>enquadramento.parquet</a:t>
            </a:r>
            <a:endParaRPr lang="en-US" sz="1240" dirty="0"/>
          </a:p>
          <a:p>
            <a:pPr marL="0" indent="0" algn="ctr">
              <a:buNone/>
            </a:pPr>
            <a:r>
              <a:rPr lang="en-US" sz="1240" b="1" dirty="0">
                <a:solidFill>
                  <a:srgbClr val="00A6A6"/>
                </a:solidFill>
              </a:rPr>
              <a:t>1.474 linhas • 80.867 bytes</a:t>
            </a:r>
            <a:endParaRPr lang="en-US" sz="124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2E7D32"/>
                </a:solidFill>
              </a:rPr>
              <a:t>glassdoor.parquet</a:t>
            </a:r>
            <a:endParaRPr lang="en-US" sz="1240" dirty="0"/>
          </a:p>
          <a:p>
            <a:pPr marL="0" indent="0" algn="ctr">
              <a:buNone/>
            </a:pPr>
            <a:r>
              <a:rPr lang="en-US" sz="1240" b="1" dirty="0">
                <a:solidFill>
                  <a:srgbClr val="2E7D32"/>
                </a:solidFill>
              </a:rPr>
              <a:t>39 linhas • 24.832 bytes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6355080" y="283464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F59E0B"/>
                </a:solidFill>
              </a:rPr>
              <a:t>tabela_final.parquet</a:t>
            </a:r>
            <a:endParaRPr lang="en-US" sz="1240" dirty="0"/>
          </a:p>
          <a:p>
            <a:pPr marL="0" indent="0" algn="ctr">
              <a:buNone/>
            </a:pPr>
            <a:r>
              <a:rPr lang="en-US" sz="1240" b="1" dirty="0">
                <a:solidFill>
                  <a:srgbClr val="F59E0B"/>
                </a:solidFill>
              </a:rPr>
              <a:t>918 linhas • 67.973 bytes</a:t>
            </a:r>
            <a:endParaRPr lang="en-US" sz="1240" dirty="0"/>
          </a:p>
        </p:txBody>
      </p:sp>
      <p:sp>
        <p:nvSpPr>
          <p:cNvPr id="10" name="Text 8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 trusted.reclamacoes -&gt; linhas_banco=918 | linhas_parquet=918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 trusted.enquadramento -&gt; linhas_banco=1474 | linhas_parquet=1474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 trusted.glassdoor -&gt; linhas_banco=39 | linhas_parquet=39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 delivery.tabela_final -&gt; linhas_banco=918 | linhas_parquet=918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EXPORTACAO CONCLUIDA COM SUCESSO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914400" y="580644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7085"/>
                </a:solidFill>
              </a:rPr>
              <a:t>Parquet foi escolhido por ser formato colunar aberto, eficiente para armazenamento e leitura analítica.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10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Dificuldades encontradas e decisões técnicas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execução exigiu diagnósticos sucessivos, não apenas aplicação direta de comandos.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2011680" cy="50292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</a:rPr>
              <a:t>Docker daemon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71800" y="1417320"/>
            <a:ext cx="2011680" cy="50292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YAML inválido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0" y="1417320"/>
            <a:ext cx="2011680" cy="502920"/>
          </a:xfrm>
          <a:prstGeom prst="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Parsing Glassdoor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52360" y="1417320"/>
            <a:ext cx="2011680" cy="502920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8D9"/>
                </a:solidFill>
              </a:rPr>
              <a:t>BOM UTF-8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92640" y="1417320"/>
            <a:ext cx="1920240" cy="50292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A6A6"/>
                </a:solidFill>
              </a:rPr>
              <a:t>Aspas no PowerShell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2423160"/>
            <a:ext cx="1033272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</a:rPr>
              <a:t>• O Docker Desktop precisou estar ativo para expor a API do engine Linux.
• O docker-compose.yml foi recriado sem caracteres invisíveis para eliminar erro de parsing YAML.
• Os arquivos Glassdoor usavam pipe `|`, não vírgula; a correção alterou 18 para 23 colunas válidas.
• Colunas com U+0096 foram tratadas na Trusted via catálogo do PostgreSQL, sem alterar a RAW.
• Arquivos SQL gerados no PowerShell exigiram remoção preventiva de BOM.
• CNPJs duplicados e nomes múltiplos exigiram ranking para evitar row multiplication.</a:t>
            </a:r>
            <a:endParaRPr lang="en-US" sz="1210" dirty="0"/>
          </a:p>
        </p:txBody>
      </p:sp>
      <p:sp>
        <p:nvSpPr>
          <p:cNvPr id="12" name="Text 10"/>
          <p:cNvSpPr/>
          <p:nvPr/>
        </p:nvSpPr>
        <p:spPr>
          <a:xfrm>
            <a:off x="914400" y="571500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</a:rPr>
              <a:t>Lição metodológica: validação de esquema, cardinalidade e qualidade deve preceder qualquer integração analítica.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11</a:t>
            </a:r>
            <a:endParaRPr lang="en-US" sz="8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Entregáveis e publicação no GitHub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O repositório público consolida código, dados, evidências, testes e artefatos finais.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828800" cy="658368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Commit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0f5bcd7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971800" y="1417320"/>
            <a:ext cx="1508760" cy="658368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Branch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main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54880" y="1417320"/>
            <a:ext cx="1691640" cy="658368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Repositório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público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20840" y="1417320"/>
            <a:ext cx="1874520" cy="658368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9E0B"/>
                </a:solidFill>
              </a:rPr>
              <a:t>Working tree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F59E0B"/>
                </a:solidFill>
              </a:rPr>
              <a:t>clean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15400" y="1417320"/>
            <a:ext cx="2057400" cy="658368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Credenciais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ignoradas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2880360"/>
            <a:ext cx="539496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-u origin main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[new branch] main -&gt; main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 main set up to track origin/main</a:t>
            </a:r>
            <a:endParaRPr lang="en-US" sz="1020" dirty="0"/>
          </a:p>
          <a:p>
            <a:pPr marL="0" indent="0">
              <a:buNone/>
            </a:pP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branch main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branch is up to date with origin/main.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to commit, working tree clean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6629400" y="2880360"/>
            <a:ext cx="45720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0B1F33"/>
                </a:solidFill>
              </a:rPr>
              <a:t>• Dockerfiles e Compose para reexecução local.
• Scripts Python para ingestão e exportação Parquet.
• Modelos dbt para Trusted e Delivery.
• Testes dbt e evidências de execução.
• Dados de entrada e Parquets finais.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868680" y="565099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F5EFF"/>
                </a:solidFill>
              </a:rPr>
              <a:t>URL: https://github.com/brtostes/C3-Trabalho-Ingestao-Pipeline-Atividade4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12</a:t>
            </a:r>
            <a:endParaRPr lang="en-US" sz="8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Conclusões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atividade resultou em um pipeline funcional, auditável e reproduzível, com separação clara de responsabilidades.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1828800" cy="658368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Ingestão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Python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7772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794760" y="1417320"/>
            <a:ext cx="2011680" cy="658368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Transformação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dbt + SQL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0" y="1737360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812280" y="1417320"/>
            <a:ext cx="2423160" cy="658368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Entrega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PostgreSQL + Parquet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372600" y="1737360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0241280" y="1417320"/>
            <a:ext cx="1554480" cy="658368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80" b="1" dirty="0">
                <a:solidFill>
                  <a:srgbClr val="F59E0B"/>
                </a:solidFill>
              </a:rPr>
              <a:t>Qualidade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b="1" dirty="0">
                <a:solidFill>
                  <a:srgbClr val="F59E0B"/>
                </a:solidFill>
              </a:rPr>
              <a:t>28/28 build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101498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0B1F33"/>
                </a:solidFill>
              </a:rPr>
              <a:t>• A granularidade analítica foi preservada: 918 reclamações entraram na Delivery e 918 linhas foram produzidas.
• A arquitetura RAW–Trusted–Delivery permitiu separar preservação da fonte, tratamento e consumo analítico.
• Os testes dbt transformaram validações manuais em controles automatizados.
• As limitações de matching foram explicitadas em indicadores de cobertura, sem correção manual não rastreável.
• A publicação no GitHub garante transparência e reprodutibilidade da entrega.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914400" y="562356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</a:rPr>
              <a:t>Resultado central: uma solução completa de engenharia de dados, com evidências, testes e artefatos finais.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13</a:t>
            </a:r>
            <a:endParaRPr lang="en-US" sz="8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Referências técnicas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Fontes usadas para fundamentar as escolhas de ferramentas e formatos.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371600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0B1F33"/>
                </a:solidFill>
              </a:rPr>
              <a:t>Apache Software Foundation. (2026). Apache Parquet. DOI: não atribuído. https://parquet.apache.org/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0B1F33"/>
                </a:solidFill>
              </a:rPr>
              <a:t>dbt Labs. (2026). Add data tests to your DAG. DOI: não atribuído. https://docs.getdbt.com/docs/build/data-tests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777240" y="2761488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0B1F33"/>
                </a:solidFill>
              </a:rPr>
              <a:t>dbt Labs. (2026). About dbt build command. DOI: não atribuído. https://docs.getdbt.com/reference/commands/build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777240" y="3456432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0B1F33"/>
                </a:solidFill>
              </a:rPr>
              <a:t>Docker Inc. (2026). Compose file reference. DOI: não atribuído. https://docs.docker.com/reference/compose-file/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777240" y="4151376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0B1F33"/>
                </a:solidFill>
              </a:rPr>
              <a:t>Docker Inc. (2026). Define services in Docker Compose. DOI: não atribuído. https://docs.docker.com/reference/compose-file/services/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777240" y="4846320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0B1F33"/>
                </a:solidFill>
              </a:rPr>
              <a:t>The PostgreSQL Global Development Group. (2026). PostgreSQL Documentation: COPY. DOI: não atribuído. https://www.postgresql.org/docs/current/sql-copy.html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67085"/>
                </a:solidFill>
              </a:rPr>
              <a:t>Observação: documentações técnicas oficiais normalmente não possuem DOI; por isso o campo foi indicado como “não atribuído”.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14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2401</Words>
  <Application>Microsoft Office PowerPoint</Application>
  <PresentationFormat>Widescreen</PresentationFormat>
  <Paragraphs>329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PECE/Poli/USP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 4 — Pipeline de Ingestão, Transformação e Delivery</dc:title>
  <dc:subject>Atividade 4 - Engenharia de Dados</dc:subject>
  <dc:creator>OpenAI</dc:creator>
  <cp:lastModifiedBy>Breno Tostes Garcia</cp:lastModifiedBy>
  <cp:revision>1</cp:revision>
  <dcterms:created xsi:type="dcterms:W3CDTF">2026-08-23T22:28:26Z</dcterms:created>
  <dcterms:modified xsi:type="dcterms:W3CDTF">2026-08-23T22:34:43Z</dcterms:modified>
</cp:coreProperties>
</file>